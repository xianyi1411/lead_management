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(30s): 'This is Leadway — a working lead-management system our team can log into today. What I want to show you is not just the product, but the method: how one person plus Claude Code took this from a blank folder to a deployed app — and why the process is the interesting part.' Then advance. Total talk budget: 15 min including a 5–6 min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Frame the brief in business terms. Point at the judging column: the majority of marks sit in design, AI usage, and quality — which is why the middle of this talk is about method, not menus.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Teach the product in 30 seconds using the funnel: 'a lead is a named prospect; it moves left to right, one step at a time; Lost is the off-ramp; Won and Lost lock.' Then the three roles, then WhatsApp. Mention: every action writes to a timeline — that doubles as the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This is the slide to slow down on. The order is the message: language before design, design before code, rules before features, human steering throughout, verification before shipping. Numbering is honest here — it really was a sequence, and each step gated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(1.5 min) Key point for executives: the first deliverable was not code — it was vocabulary. The glossary even lists words we agreed NOT to use. Every later disagreement was settled by pointing at this document instead of re-arguing. The two ADRs (architecture decision records) capture trade-offs we accepted, like WhatsApp logging intent rather than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(1.5 min) The mockup cost an hour and saved days: layout debates happened on a throwaway HTML page, not on production code. Emphasise the colour system — it is why the app feels coherent: colour is information (which stage), never decoration. Even the logo is the funnel.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(1.5 min) This is the governance slide. The three most important business rules were written as pure, testable logic first, and 28 automated checks run on every single change. For a CEO: the process guarantees are structural. Nobody needs to remember the rule — the system embodies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(1.5 min) These are real quotes from the build, verbatim. The third one is the best story: the human guessed 'free tier is slow'; the AI measured, found the app was hosted a continent away from its database, and fixed the geography. Lesson: the human describes what they experience; the AI owns the diagnosis. That's the collaboration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Two messages: discipline (the same five gates ran before every release, not just the final one) and honesty (we know the system's limits and recorded them — the WhatsApp trade-off is a decision record, not a surprise). Mention the offline fallback here; it de-risks the demo you're about to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(5–6 min) DEMO SCRIPT — keep two browser windows ready and signed in beforehand. 1) hafiz@company.my (Manager): sweep the dashboard — KPI count-up, funnel, activity feed. 2) New lead → fill → it opens; assign to Hui Ting; note the timeline entries appearing. 3) Window 2: huiting@company.my — show the list is only her leads; scope pill says 'My leads'. 4) Open the new lead → Contact via WhatsApp → pick Intro → show placeholders filled → Open WhatsApp → switch back: WHATSAPP_CONTACT logged. 5) Advance New→Contacted→Qualified; point out Won is never offered from Qualified — the rule is physical. 6) Back to Manager dashboard: numbers moved. FALLBACK: if anything hangs &gt;10s, say 'let me switch to the local copy' — same seed data,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Deliberate framing: 'the features are ordinary on purpose' — a CRM should feel familiar. What's differentiated is the guarantees underneath: audit trail, enforced rules, correct scoping. Those are exactly the things that fail in hand-built spreadsheets.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Land the reframe: AI didn't remove the human — it promoted them. All the leverage was in decisions: what a lead is, what the design should feel like, which trade-offs to accept. Close with the forward look: this exact five-move method transfers to any internal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(30s) Replace 'your-app.vercel.app' with the real deployment URL before presenting. Q&amp;A PREP — likely questions: 1) 'Does it confirm WhatsApp delivery?' No — by recorded decision; upgrade path is the WhatsApp Business API. 2) 'What did it cost?' A Claude subscription and free hosting tiers; no other spend. 3) 'Could the team really run on it?' Yes — it's deployed, seeded, role-secured; next step would be importing real leads. 4) 'What breaks first at scale?' The free database tier sleeps when idle — a paid tier removes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7548" y="2507285"/>
            <a:ext cx="147676" cy="347472"/>
          </a:xfrm>
          <a:prstGeom prst="roundRect">
            <a:avLst>
              <a:gd name="adj" fmla="val 47059"/>
            </a:avLst>
          </a:prstGeom>
          <a:solidFill>
            <a:srgbClr val="64748B"/>
          </a:solidFill>
          <a:ln/>
        </p:spPr>
      </p:sp>
      <p:sp>
        <p:nvSpPr>
          <p:cNvPr id="3" name="Shape 1"/>
          <p:cNvSpPr/>
          <p:nvPr/>
        </p:nvSpPr>
        <p:spPr>
          <a:xfrm>
            <a:off x="5770778" y="2350922"/>
            <a:ext cx="147676" cy="503834"/>
          </a:xfrm>
          <a:prstGeom prst="roundRect">
            <a:avLst>
              <a:gd name="adj" fmla="val 47059"/>
            </a:avLst>
          </a:prstGeom>
          <a:solidFill>
            <a:srgbClr val="2F6FED"/>
          </a:solidFill>
          <a:ln/>
        </p:spPr>
      </p:sp>
      <p:sp>
        <p:nvSpPr>
          <p:cNvPr id="4" name="Shape 2"/>
          <p:cNvSpPr/>
          <p:nvPr/>
        </p:nvSpPr>
        <p:spPr>
          <a:xfrm>
            <a:off x="6014009" y="2194560"/>
            <a:ext cx="147676" cy="660197"/>
          </a:xfrm>
          <a:prstGeom prst="roundRect">
            <a:avLst>
              <a:gd name="adj" fmla="val 47059"/>
            </a:avLst>
          </a:prstGeom>
          <a:solidFill>
            <a:srgbClr val="0E9AA7"/>
          </a:solidFill>
          <a:ln/>
        </p:spPr>
      </p:sp>
      <p:sp>
        <p:nvSpPr>
          <p:cNvPr id="5" name="Shape 3"/>
          <p:cNvSpPr/>
          <p:nvPr/>
        </p:nvSpPr>
        <p:spPr>
          <a:xfrm>
            <a:off x="6257239" y="2038198"/>
            <a:ext cx="147676" cy="816559"/>
          </a:xfrm>
          <a:prstGeom prst="roundRect">
            <a:avLst>
              <a:gd name="adj" fmla="val 47059"/>
            </a:avLst>
          </a:prstGeom>
          <a:solidFill>
            <a:srgbClr val="D98A0B"/>
          </a:solidFill>
          <a:ln/>
        </p:spPr>
      </p:sp>
      <p:sp>
        <p:nvSpPr>
          <p:cNvPr id="6" name="Shape 4"/>
          <p:cNvSpPr/>
          <p:nvPr/>
        </p:nvSpPr>
        <p:spPr>
          <a:xfrm>
            <a:off x="6500470" y="1847088"/>
            <a:ext cx="147676" cy="1007669"/>
          </a:xfrm>
          <a:prstGeom prst="roundRect">
            <a:avLst>
              <a:gd name="adj" fmla="val 47059"/>
            </a:avLst>
          </a:prstGeom>
          <a:solidFill>
            <a:srgbClr val="17915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999232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Leadway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45920" y="3858768"/>
            <a:ext cx="889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lead-management system — designed, built, and shipped with Claude Code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45920" y="5989320"/>
            <a:ext cx="8897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Lead Management Challenge   ·   Tan Xian Yi   ·   July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lead-management system — and be judged on how it was built.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must do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leads and assign them to sales reps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lead through a six-stage sales pipeline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customers on WhatsApp, with every contact logged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 — Admin, Manager, Sales Rep — each seeing only what they should</a:t>
            </a:r>
            <a:endParaRPr lang="en-US" sz="14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dashboard: pipeline value in RM, conversion, activity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1600200"/>
            <a:ext cx="4782312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judged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7804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application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0" y="2423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A4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78040" y="29900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0" y="29900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A4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3557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&amp; prompts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0" y="35570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A4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78040" y="4123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documentation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0" y="412394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A4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78040" y="4690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demo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0" y="46908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A4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53492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marks reward the process — design, AI method, quality — not features alone.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Leadway in one 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lives on this pipeline. Colour always means stage — in the funnel, the lists, even the logo.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1703070" cy="566928"/>
          </a:xfrm>
          <a:prstGeom prst="roundRect">
            <a:avLst>
              <a:gd name="adj" fmla="val 8065"/>
            </a:avLst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17030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12898" y="1965960"/>
            <a:ext cx="1703070" cy="566928"/>
          </a:xfrm>
          <a:prstGeom prst="roundRect">
            <a:avLst>
              <a:gd name="adj" fmla="val 8065"/>
            </a:avLst>
          </a:prstGeom>
          <a:solidFill>
            <a:srgbClr val="2F6FED"/>
          </a:solidFill>
          <a:ln/>
        </p:spPr>
      </p:sp>
      <p:sp>
        <p:nvSpPr>
          <p:cNvPr id="8" name="Text 6"/>
          <p:cNvSpPr/>
          <p:nvPr/>
        </p:nvSpPr>
        <p:spPr>
          <a:xfrm>
            <a:off x="2612898" y="1965960"/>
            <a:ext cx="17030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7116" y="1965960"/>
            <a:ext cx="1703070" cy="566928"/>
          </a:xfrm>
          <a:prstGeom prst="roundRect">
            <a:avLst>
              <a:gd name="adj" fmla="val 8065"/>
            </a:avLst>
          </a:prstGeom>
          <a:solidFill>
            <a:srgbClr val="0E9AA7"/>
          </a:solidFill>
          <a:ln/>
        </p:spPr>
      </p:sp>
      <p:sp>
        <p:nvSpPr>
          <p:cNvPr id="10" name="Text 8"/>
          <p:cNvSpPr/>
          <p:nvPr/>
        </p:nvSpPr>
        <p:spPr>
          <a:xfrm>
            <a:off x="4357116" y="1965960"/>
            <a:ext cx="17030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01334" y="1965960"/>
            <a:ext cx="1703070" cy="566928"/>
          </a:xfrm>
          <a:prstGeom prst="roundRect">
            <a:avLst>
              <a:gd name="adj" fmla="val 8065"/>
            </a:avLst>
          </a:prstGeom>
          <a:solidFill>
            <a:srgbClr val="D98A0B"/>
          </a:solidFill>
          <a:ln/>
        </p:spPr>
      </p:sp>
      <p:sp>
        <p:nvSpPr>
          <p:cNvPr id="12" name="Text 10"/>
          <p:cNvSpPr/>
          <p:nvPr/>
        </p:nvSpPr>
        <p:spPr>
          <a:xfrm>
            <a:off x="6101334" y="1965960"/>
            <a:ext cx="17030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45552" y="1965960"/>
            <a:ext cx="1703070" cy="566928"/>
          </a:xfrm>
          <a:prstGeom prst="roundRect">
            <a:avLst>
              <a:gd name="adj" fmla="val 8065"/>
            </a:avLst>
          </a:prstGeom>
          <a:solidFill>
            <a:srgbClr val="17915B"/>
          </a:solidFill>
          <a:ln/>
        </p:spPr>
      </p:sp>
      <p:sp>
        <p:nvSpPr>
          <p:cNvPr id="14" name="Text 12"/>
          <p:cNvSpPr/>
          <p:nvPr/>
        </p:nvSpPr>
        <p:spPr>
          <a:xfrm>
            <a:off x="7845552" y="1965960"/>
            <a:ext cx="17030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589770" y="1965960"/>
            <a:ext cx="1703070" cy="566928"/>
          </a:xfrm>
          <a:prstGeom prst="roundRect">
            <a:avLst>
              <a:gd name="adj" fmla="val 8065"/>
            </a:avLst>
          </a:prstGeom>
          <a:solidFill>
            <a:srgbClr val="D2453E"/>
          </a:solidFill>
          <a:ln/>
        </p:spPr>
      </p:sp>
      <p:sp>
        <p:nvSpPr>
          <p:cNvPr id="16" name="Text 14"/>
          <p:cNvSpPr/>
          <p:nvPr/>
        </p:nvSpPr>
        <p:spPr>
          <a:xfrm>
            <a:off x="9589770" y="1965960"/>
            <a:ext cx="17030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6334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forward at a time  ·  Lost is reachable from any stage  ·  Won and Lost freeze the lead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3575304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703320"/>
            <a:ext cx="237744" cy="23774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20" name="Text 18"/>
          <p:cNvSpPr/>
          <p:nvPr/>
        </p:nvSpPr>
        <p:spPr>
          <a:xfrm>
            <a:off x="1207008" y="3639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" y="4114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system — manages users and roles. Sees everything.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98264" y="3429000"/>
            <a:ext cx="3575304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3703320"/>
            <a:ext cx="237744" cy="237744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24" name="Text 22"/>
          <p:cNvSpPr/>
          <p:nvPr/>
        </p:nvSpPr>
        <p:spPr>
          <a:xfrm>
            <a:off x="5056632" y="3639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90872" y="4114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pipeline — assigns leads, can delete or reopen. Team-wide view.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47888" y="3429000"/>
            <a:ext cx="3575304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540496" y="3703320"/>
            <a:ext cx="237744" cy="237744"/>
          </a:xfrm>
          <a:prstGeom prst="ellipse">
            <a:avLst/>
          </a:prstGeom>
          <a:solidFill>
            <a:srgbClr val="D98A0B"/>
          </a:solidFill>
          <a:ln/>
        </p:spPr>
      </p:sp>
      <p:sp>
        <p:nvSpPr>
          <p:cNvPr id="28" name="Text 26"/>
          <p:cNvSpPr/>
          <p:nvPr/>
        </p:nvSpPr>
        <p:spPr>
          <a:xfrm>
            <a:off x="8906256" y="3639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40496" y="4114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their assigned leads — contacts, advances, adds notes.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8680" y="5660136"/>
            <a:ext cx="329184" cy="329184"/>
          </a:xfrm>
          <a:prstGeom prst="ellipse">
            <a:avLst/>
          </a:prstGeom>
          <a:solidFill>
            <a:srgbClr val="1FA855"/>
          </a:solidFill>
          <a:ln/>
        </p:spPr>
      </p:sp>
      <p:sp>
        <p:nvSpPr>
          <p:cNvPr id="32" name="Text 30"/>
          <p:cNvSpPr/>
          <p:nvPr/>
        </p:nvSpPr>
        <p:spPr>
          <a:xfrm>
            <a:off x="1371600" y="550468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outreach is one click from any lead — template chosen, message previewed, contact logged on the lead's timeline. That timeline is the audit trail.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was built — five moves, in order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wrote the code. The human made the decisions. Every move gated the next.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289304" y="2286000"/>
            <a:ext cx="603504" cy="60350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5" name="Text 3"/>
          <p:cNvSpPr/>
          <p:nvPr/>
        </p:nvSpPr>
        <p:spPr>
          <a:xfrm>
            <a:off x="1289304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23744" y="2368296"/>
            <a:ext cx="55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3776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language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365760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glossary and blueprint — before any code.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75888" y="2286000"/>
            <a:ext cx="603504" cy="60350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10" name="Text 8"/>
          <p:cNvSpPr/>
          <p:nvPr/>
        </p:nvSpPr>
        <p:spPr>
          <a:xfrm>
            <a:off x="3675888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10328" y="2368296"/>
            <a:ext cx="55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80360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design first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16936" y="365760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clickable mockup to approve, not a description.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62472" y="2286000"/>
            <a:ext cx="603504" cy="60350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15" name="Text 13"/>
          <p:cNvSpPr/>
          <p:nvPr/>
        </p:nvSpPr>
        <p:spPr>
          <a:xfrm>
            <a:off x="6062472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96912" y="2368296"/>
            <a:ext cx="55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66944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rules into tests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03520" y="365760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become checks that never sleep.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49056" y="2286000"/>
            <a:ext cx="603504" cy="60350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20" name="Text 18"/>
          <p:cNvSpPr/>
          <p:nvPr/>
        </p:nvSpPr>
        <p:spPr>
          <a:xfrm>
            <a:off x="8449056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83496" y="2368296"/>
            <a:ext cx="55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653528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 in plain words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690104" y="365760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like 'this feels slow' was enough.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835640" y="2286000"/>
            <a:ext cx="603504" cy="603504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25" name="Text 23"/>
          <p:cNvSpPr/>
          <p:nvPr/>
        </p:nvSpPr>
        <p:spPr>
          <a:xfrm>
            <a:off x="10835640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40112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Verify, then ship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0076688" y="3657600"/>
            <a:ext cx="212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build, deploy — nothing ships unproven.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194560" y="5349240"/>
            <a:ext cx="779983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68880" y="5477256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four slides are these moves — each with the actual prompt that drove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1 — Agree the language. No code allowed yet.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was not allowed to guess what a 'lead' was.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5216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019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down first, in writing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counts as a Lead, a Status, an Assignment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stages — and the one-step-at-a-time rule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do what: a full role-permission matrix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logs the intent to contact — not delivery (a recorded decision)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glossary, a build blueprint, two decision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1645920"/>
            <a:ext cx="4919472" cy="2331720"/>
          </a:xfrm>
          <a:prstGeom prst="roundRect">
            <a:avLst>
              <a:gd name="adj" fmla="val 2745"/>
            </a:avLst>
          </a:prstGeom>
          <a:solidFill>
            <a:srgbClr val="ECEBFB"/>
          </a:solidFill>
          <a:ln w="12700">
            <a:solidFill>
              <a:srgbClr val="D8D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792224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— PROMPTED AS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49440" y="2066544"/>
            <a:ext cx="446227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“Grill the plan against the domain: challenge every term, flag every ambiguity, and write the glossary before writing any code.”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720840" y="4206240"/>
            <a:ext cx="491947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0880" y="4434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rule, as written then: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4800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step forward at a time. Lost is always available. Won and Lost freeze — only a Manager can reopen.”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2 — Decide by seeing. Design before code.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approved pixels, not paragraphs.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23560" cy="1783080"/>
          </a:xfrm>
          <a:prstGeom prst="roundRect">
            <a:avLst>
              <a:gd name="adj" fmla="val 3590"/>
            </a:avLst>
          </a:prstGeom>
          <a:solidFill>
            <a:srgbClr val="ECEBFB"/>
          </a:solidFill>
          <a:ln w="12700">
            <a:solidFill>
              <a:srgbClr val="D8D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922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— VERBATIM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066544"/>
            <a:ext cx="51663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 the blueprint and everything you need… make sure how our design UI will look, using impeccable and frontend-design skills.”  Then simply: “Build the visual mockup.”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62356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8953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came back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279392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clickable mockup of every screen — before one line of app code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reviewed it in the browser, requested changes in plain words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 look became the contract for the real build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92240" y="1645920"/>
            <a:ext cx="5148072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12280" y="1901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signature decision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12280" y="22860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always means pipeline stage — never decoration.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12280" y="301752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30175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752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48472" y="301752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E9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8348472" y="30175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5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884664" y="301752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E2F4F5"/>
          </a:solidFill>
          <a:ln/>
        </p:spPr>
      </p:sp>
      <p:sp>
        <p:nvSpPr>
          <p:cNvPr id="18" name="Text 16"/>
          <p:cNvSpPr/>
          <p:nvPr/>
        </p:nvSpPr>
        <p:spPr>
          <a:xfrm>
            <a:off x="9884664" y="30175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7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58444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3584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56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348472" y="358444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/>
        </p:spPr>
      </p:sp>
      <p:sp>
        <p:nvSpPr>
          <p:cNvPr id="22" name="Text 20"/>
          <p:cNvSpPr/>
          <p:nvPr/>
        </p:nvSpPr>
        <p:spPr>
          <a:xfrm>
            <a:off x="8348472" y="3584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884664" y="3584448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FBE9E8"/>
          </a:solidFill>
          <a:ln/>
        </p:spPr>
      </p:sp>
      <p:sp>
        <p:nvSpPr>
          <p:cNvPr id="24" name="Text 22"/>
          <p:cNvSpPr/>
          <p:nvPr/>
        </p:nvSpPr>
        <p:spPr>
          <a:xfrm>
            <a:off x="9884664" y="3584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2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12280" y="4343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six colours appear in the dashboard funnel, the status pills on every list, the stepper on every lead — and the logo itself.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12280" y="5696712"/>
            <a:ext cx="77724" cy="182880"/>
          </a:xfrm>
          <a:prstGeom prst="roundRect">
            <a:avLst>
              <a:gd name="adj" fmla="val 47059"/>
            </a:avLst>
          </a:prstGeom>
          <a:solidFill>
            <a:srgbClr val="64748B"/>
          </a:solidFill>
          <a:ln/>
        </p:spPr>
      </p:sp>
      <p:sp>
        <p:nvSpPr>
          <p:cNvPr id="27" name="Shape 25"/>
          <p:cNvSpPr/>
          <p:nvPr/>
        </p:nvSpPr>
        <p:spPr>
          <a:xfrm>
            <a:off x="6940296" y="5614416"/>
            <a:ext cx="77724" cy="265176"/>
          </a:xfrm>
          <a:prstGeom prst="roundRect">
            <a:avLst>
              <a:gd name="adj" fmla="val 47059"/>
            </a:avLst>
          </a:prstGeom>
          <a:solidFill>
            <a:srgbClr val="2F6FED"/>
          </a:solidFill>
          <a:ln/>
        </p:spPr>
      </p:sp>
      <p:sp>
        <p:nvSpPr>
          <p:cNvPr id="28" name="Shape 26"/>
          <p:cNvSpPr/>
          <p:nvPr/>
        </p:nvSpPr>
        <p:spPr>
          <a:xfrm>
            <a:off x="7068312" y="5532120"/>
            <a:ext cx="77724" cy="347472"/>
          </a:xfrm>
          <a:prstGeom prst="roundRect">
            <a:avLst>
              <a:gd name="adj" fmla="val 47059"/>
            </a:avLst>
          </a:prstGeom>
          <a:solidFill>
            <a:srgbClr val="0E9AA7"/>
          </a:solidFill>
          <a:ln/>
        </p:spPr>
      </p:sp>
      <p:sp>
        <p:nvSpPr>
          <p:cNvPr id="29" name="Shape 27"/>
          <p:cNvSpPr/>
          <p:nvPr/>
        </p:nvSpPr>
        <p:spPr>
          <a:xfrm>
            <a:off x="7196328" y="5449824"/>
            <a:ext cx="77724" cy="429768"/>
          </a:xfrm>
          <a:prstGeom prst="roundRect">
            <a:avLst>
              <a:gd name="adj" fmla="val 47059"/>
            </a:avLst>
          </a:prstGeom>
          <a:solidFill>
            <a:srgbClr val="D98A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324344" y="5349240"/>
            <a:ext cx="77724" cy="530352"/>
          </a:xfrm>
          <a:prstGeom prst="roundRect">
            <a:avLst>
              <a:gd name="adj" fmla="val 47059"/>
            </a:avLst>
          </a:prstGeom>
          <a:solidFill>
            <a:srgbClr val="17915B"/>
          </a:solidFill>
          <a:ln/>
        </p:spPr>
      </p:sp>
      <p:sp>
        <p:nvSpPr>
          <p:cNvPr id="31" name="Text 29"/>
          <p:cNvSpPr/>
          <p:nvPr/>
        </p:nvSpPr>
        <p:spPr>
          <a:xfrm>
            <a:off x="7635240" y="5504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five ascending bars: the funnel's happy path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3 — Rules the system cannot break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by construction, not by memo.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7530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4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pass on every change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98264" y="1691640"/>
            <a:ext cx="357530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2584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4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72584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live as tested code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47888" y="1691640"/>
            <a:ext cx="357530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22208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4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522208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actions re-checked on the server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1091672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858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that means in practice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rule, the role-permission matrix, and the WhatsApp link builder are code with tests — not guidelines in a document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 cannot jump a lead from New straight to Won: the button doesn't exist, and the server would refuse it anyway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 cannot see or edit another rep's leads — enforced on the server on every request, not just hidden in the interface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history is restricted; the activity timeline survives as the audit trail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4 — Steering the AI in plain language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the symptom was enough. No technical vocabulary required.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84632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19656"/>
            <a:ext cx="4297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logo looks weird.”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80760" y="1764792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redesigned: five ascending bars — the funnel's happy path. Applied everywhere, documented in the design system.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484632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300984"/>
            <a:ext cx="4297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sure it feels modern — smooth transitions when I interact.”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80760" y="324612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restrained motion system: numbers count up, the funnel sweeps in, a status change pulses. Nothing decorative.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654296"/>
            <a:ext cx="484632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782312"/>
            <a:ext cx="4297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“Clicking feels slow. Is it because the hosting is free?”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80760" y="4727448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found the real cause: app servers in the US, database in Singapore. It moved the compute next to the data — every click got ~half a second faster.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5 — Verify, then ship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went out on trust.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019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before every release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28 automated checks green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type-check across the codebase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 must succeed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Vercel — served from Singapore, next to the database and the users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seeded; a fully offline local fallback ready if venue Wi-Fi fails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30952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883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moving parts, in plain words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29400" y="2377440"/>
            <a:ext cx="182880" cy="18288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  </a:t>
            </a:r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app people use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29400" y="2889504"/>
            <a:ext cx="182880" cy="182880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27980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Leadway app — cloud, Singapore  </a:t>
            </a:r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screens, rules, permissions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3401568"/>
            <a:ext cx="182880" cy="18288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3310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cloud, Singapore  </a:t>
            </a:r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leads, users, the audit trail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29400" y="3913632"/>
            <a:ext cx="182880" cy="182880"/>
          </a:xfrm>
          <a:prstGeom prst="ellipse">
            <a:avLst/>
          </a:prstGeom>
          <a:solidFill>
            <a:srgbClr val="1FA855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38221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— customer's phone  </a:t>
            </a:r>
            <a:pPr indent="0" marL="0"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opens pre-filled; we log the intent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4617720"/>
            <a:ext cx="5330952" cy="1508760"/>
          </a:xfrm>
          <a:prstGeom prst="roundRect">
            <a:avLst>
              <a:gd name="adj" fmla="val 4242"/>
            </a:avLst>
          </a:prstGeom>
          <a:solidFill>
            <a:srgbClr val="ECEBFB"/>
          </a:solidFill>
          <a:ln w="12700">
            <a:solidFill>
              <a:srgbClr val="D8D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76402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TRADE-OFF WE CHOSE — AND WROTE DOWN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37960" y="5038344"/>
            <a:ext cx="48737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“WhatsApp logs the intent to contact, not proof of delivery. Upgrade path: the WhatsApp Business API.”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beats — the whole system in five minutes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75688"/>
            <a:ext cx="475488" cy="47548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07008" y="19659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as the Manager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07008" y="23500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dashboard: pipeline value, funnel, activity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2075688"/>
            <a:ext cx="475488" cy="475488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13448" y="19659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lead, assign it to a rep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013448" y="23500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decides who works what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475488" cy="475488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07008" y="32918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as that Sales Rep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07008" y="36758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see only their own leads — enforced, not hidden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3401568"/>
            <a:ext cx="475488" cy="475488"/>
          </a:xfrm>
          <a:prstGeom prst="ellipse">
            <a:avLst/>
          </a:prstGeom>
          <a:solidFill>
            <a:srgbClr val="1FA855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13448" y="32918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via WhatsApp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13448" y="36758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template, preview, send — contact logged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27448"/>
            <a:ext cx="475488" cy="475488"/>
          </a:xfrm>
          <a:prstGeom prst="ellipse">
            <a:avLst/>
          </a:prstGeom>
          <a:solidFill>
            <a:srgbClr val="D98A0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27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07008" y="46177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the status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207008" y="50017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at a time; the illegal jump simply isn't offered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4727448"/>
            <a:ext cx="475488" cy="475488"/>
          </a:xfrm>
          <a:prstGeom prst="ellipse">
            <a:avLst/>
          </a:prstGeom>
          <a:solidFill>
            <a:srgbClr val="17915B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727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13448" y="46177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dashboard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013448" y="50017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moved; the timeline recorded everything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venue Wi-Fi fails: the identical demo runs locally, fully offline.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business gets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features are ordinary on purpose. The guarantees are not.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0468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0824"/>
            <a:ext cx="274320" cy="274320"/>
          </a:xfrm>
          <a:prstGeom prst="ellipse">
            <a:avLst/>
          </a:prstGeom>
          <a:solidFill>
            <a:srgbClr val="4A45E0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19476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carries a who-did-what timeline: contacts, status moves, assignments, notes. Nothing disappears.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27648" y="1691640"/>
            <a:ext cx="550468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47688" y="2020824"/>
            <a:ext cx="274320" cy="27432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0" name="Text 8"/>
          <p:cNvSpPr/>
          <p:nvPr/>
        </p:nvSpPr>
        <p:spPr>
          <a:xfrm>
            <a:off x="7077456" y="19476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data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47688" y="2468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can't be skipped and closes can't be quietly undone — so the funnel report is actually trustworthy.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50468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306824"/>
            <a:ext cx="274320" cy="274320"/>
          </a:xfrm>
          <a:prstGeom prst="ellipse">
            <a:avLst/>
          </a:prstGeom>
          <a:solidFill>
            <a:srgbClr val="D98A0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8448" y="42336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754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value in RM, conversion rate, and activity — scoped correctly: reps see theirs, managers see the team, admins see all.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27648" y="3977640"/>
            <a:ext cx="550468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47688" y="4306824"/>
            <a:ext cx="274320" cy="274320"/>
          </a:xfrm>
          <a:prstGeom prst="ellipse">
            <a:avLst/>
          </a:prstGeom>
          <a:solidFill>
            <a:srgbClr val="1FA855"/>
          </a:solidFill>
          <a:ln/>
        </p:spPr>
      </p:sp>
      <p:sp>
        <p:nvSpPr>
          <p:cNvPr id="18" name="Text 16"/>
          <p:cNvSpPr/>
          <p:nvPr/>
        </p:nvSpPr>
        <p:spPr>
          <a:xfrm>
            <a:off x="7077456" y="42336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outreach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47688" y="4754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is one click from any lead, with the message pre-written and the contact logged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 about working with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human's job moved up a level: decisions, not keystrokes.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75304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C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is the fuel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glossary did more for speed than any tool. The AI moves exactly as fast as your definitions are clear.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8264" y="1783080"/>
            <a:ext cx="3575304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18304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C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718304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pixels, not paragraphs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718304" y="3566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clickable mockup ended debates that documents never settle. Decide by seeing, then build.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47888" y="1783080"/>
            <a:ext cx="3575304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67928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C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567928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then verify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67928" y="35661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shipped nothing that tests, type-checks, and a production build didn't confirm — and it caught its own mistakes that way.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194560" y="5440680"/>
            <a:ext cx="779983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6E8EE"/>
            </a:solidFill>
            <a:prstDash val="solid"/>
          </a:ln>
          <a:effectLst>
            <a:outerShdw sx="100000" sy="100000" kx="0" ky="0" algn="bl" rotWithShape="0" blurRad="114300" dist="25400" dir="5400000">
              <a:srgbClr val="10121B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68880" y="5559552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C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method, next project: point it at any workflow your team runs on spreadsheets today.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2145182"/>
            <a:ext cx="132131" cy="310896"/>
          </a:xfrm>
          <a:prstGeom prst="roundRect">
            <a:avLst>
              <a:gd name="adj" fmla="val 47059"/>
            </a:avLst>
          </a:prstGeom>
          <a:solidFill>
            <a:srgbClr val="64748B"/>
          </a:solidFill>
          <a:ln/>
        </p:spPr>
      </p:sp>
      <p:sp>
        <p:nvSpPr>
          <p:cNvPr id="3" name="Shape 1"/>
          <p:cNvSpPr/>
          <p:nvPr/>
        </p:nvSpPr>
        <p:spPr>
          <a:xfrm>
            <a:off x="5809183" y="2005279"/>
            <a:ext cx="132131" cy="450799"/>
          </a:xfrm>
          <a:prstGeom prst="roundRect">
            <a:avLst>
              <a:gd name="adj" fmla="val 47059"/>
            </a:avLst>
          </a:prstGeom>
          <a:solidFill>
            <a:srgbClr val="2F6FED"/>
          </a:solidFill>
          <a:ln/>
        </p:spPr>
      </p:sp>
      <p:sp>
        <p:nvSpPr>
          <p:cNvPr id="4" name="Shape 2"/>
          <p:cNvSpPr/>
          <p:nvPr/>
        </p:nvSpPr>
        <p:spPr>
          <a:xfrm>
            <a:off x="6026810" y="1865376"/>
            <a:ext cx="132131" cy="590702"/>
          </a:xfrm>
          <a:prstGeom prst="roundRect">
            <a:avLst>
              <a:gd name="adj" fmla="val 47059"/>
            </a:avLst>
          </a:prstGeom>
          <a:solidFill>
            <a:srgbClr val="0E9AA7"/>
          </a:solidFill>
          <a:ln/>
        </p:spPr>
      </p:sp>
      <p:sp>
        <p:nvSpPr>
          <p:cNvPr id="5" name="Shape 3"/>
          <p:cNvSpPr/>
          <p:nvPr/>
        </p:nvSpPr>
        <p:spPr>
          <a:xfrm>
            <a:off x="6244438" y="1725473"/>
            <a:ext cx="132131" cy="730606"/>
          </a:xfrm>
          <a:prstGeom prst="roundRect">
            <a:avLst>
              <a:gd name="adj" fmla="val 47059"/>
            </a:avLst>
          </a:prstGeom>
          <a:solidFill>
            <a:srgbClr val="D98A0B"/>
          </a:solidFill>
          <a:ln/>
        </p:spPr>
      </p:sp>
      <p:sp>
        <p:nvSpPr>
          <p:cNvPr id="6" name="Shape 4"/>
          <p:cNvSpPr/>
          <p:nvPr/>
        </p:nvSpPr>
        <p:spPr>
          <a:xfrm>
            <a:off x="6462065" y="1554480"/>
            <a:ext cx="132131" cy="901598"/>
          </a:xfrm>
          <a:prstGeom prst="roundRect">
            <a:avLst>
              <a:gd name="adj" fmla="val 47059"/>
            </a:avLst>
          </a:prstGeom>
          <a:solidFill>
            <a:srgbClr val="17915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606040"/>
            <a:ext cx="12188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Leadway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45920" y="3337560"/>
            <a:ext cx="889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Days, not weeks — and every decision on the record.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 </a:t>
            </a:r>
            <a:pPr algn="ctr" indent="0" marL="0">
              <a:buNone/>
            </a:pPr>
            <a:r>
              <a:rPr lang="en-US" sz="135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your-app.vercel.app       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documentation:  </a:t>
            </a:r>
            <a:pPr algn="ctr" indent="0" marL="0">
              <a:buNone/>
            </a:pPr>
            <a:r>
              <a:rPr lang="en-US" sz="135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github.com/Xianyi1411/lead_management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0" y="56692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Terima kasih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2026-07-12T06:23:44Z</dcterms:created>
  <dcterms:modified xsi:type="dcterms:W3CDTF">2026-07-12T06:23:44Z</dcterms:modified>
</cp:coreProperties>
</file>