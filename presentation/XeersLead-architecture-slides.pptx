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A45E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 ·  SYSTEM DESIGN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ERD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11274552" cy="18288"/>
          </a:xfrm>
          <a:prstGeom prst="rect">
            <a:avLst/>
          </a:prstGeom>
          <a:solidFill>
            <a:srgbClr val="E6E8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Leadway  ·  Lead management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tables · Prisma is the source of truth · every mutation writes an Activity row (audit trail)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2743200" cy="2103120"/>
          </a:xfrm>
          <a:prstGeom prst="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2743200" cy="109728"/>
          </a:xfrm>
          <a:prstGeom prst="rect">
            <a:avLst>
              <a:gd name="adj" fmla="val 66667"/>
            </a:avLst>
          </a:prstGeom>
          <a:solidFill>
            <a:srgbClr val="4A45E0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1837944"/>
            <a:ext cx="2414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22402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828800" y="2240280"/>
            <a:ext cx="1152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852928" y="2267712"/>
            <a:ext cx="256032" cy="201168"/>
          </a:xfrm>
          <a:prstGeom prst="rect">
            <a:avLst>
              <a:gd name="adj" fmla="val 18182"/>
            </a:avLst>
          </a:prstGeom>
          <a:solidFill>
            <a:srgbClr val="4A45E0"/>
          </a:solidFill>
          <a:ln/>
        </p:spPr>
      </p:sp>
      <p:sp>
        <p:nvSpPr>
          <p:cNvPr id="14" name="Text 12"/>
          <p:cNvSpPr/>
          <p:nvPr/>
        </p:nvSpPr>
        <p:spPr>
          <a:xfrm>
            <a:off x="2852928" y="225856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66928" y="24597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28800" y="2459736"/>
            <a:ext cx="1152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" y="26791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2679192"/>
            <a:ext cx="1152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(unique)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6928" y="289864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passwordHash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828800" y="2898648"/>
            <a:ext cx="1152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11810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28800" y="3118104"/>
            <a:ext cx="1152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enum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66928" y="33375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isActive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828800" y="3337560"/>
            <a:ext cx="1152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35570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createdAt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828800" y="3557016"/>
            <a:ext cx="1152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89120" y="1691640"/>
            <a:ext cx="3566160" cy="4480560"/>
          </a:xfrm>
          <a:prstGeom prst="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89120" y="1691640"/>
            <a:ext cx="3566160" cy="109728"/>
          </a:xfrm>
          <a:prstGeom prst="rect">
            <a:avLst>
              <a:gd name="adj" fmla="val 66667"/>
            </a:avLst>
          </a:prstGeom>
          <a:solidFill>
            <a:srgbClr val="0E9AA7"/>
          </a:solidFill>
          <a:ln/>
        </p:spPr>
      </p:sp>
      <p:sp>
        <p:nvSpPr>
          <p:cNvPr id="29" name="Text 27"/>
          <p:cNvSpPr/>
          <p:nvPr/>
        </p:nvSpPr>
        <p:spPr>
          <a:xfrm>
            <a:off x="4553712" y="1837944"/>
            <a:ext cx="32369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498848" y="219456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172200" y="2194560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607808" y="2221992"/>
            <a:ext cx="256032" cy="201168"/>
          </a:xfrm>
          <a:prstGeom prst="rect">
            <a:avLst>
              <a:gd name="adj" fmla="val 18182"/>
            </a:avLst>
          </a:prstGeom>
          <a:solidFill>
            <a:srgbClr val="4A45E0"/>
          </a:solidFill>
          <a:ln/>
        </p:spPr>
      </p:sp>
      <p:sp>
        <p:nvSpPr>
          <p:cNvPr id="33" name="Text 31"/>
          <p:cNvSpPr/>
          <p:nvPr/>
        </p:nvSpPr>
        <p:spPr>
          <a:xfrm>
            <a:off x="7607808" y="221284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498848" y="240944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72200" y="2409444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498848" y="262432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72200" y="2624328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498848" y="283921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72200" y="2839212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String?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498848" y="305409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3054096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String?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498848" y="326898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172200" y="3268980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(LeadSource / custom)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498848" y="348386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72200" y="3483864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LeadStatus enum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98848" y="369874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dealValue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172200" y="3698748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(RM)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498848" y="391363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172200" y="3913632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String?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498848" y="412851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budgetStatus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172200" y="4128516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BudgetStatus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407408" y="4210812"/>
            <a:ext cx="73152" cy="73152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53" name="Text 51"/>
          <p:cNvSpPr/>
          <p:nvPr/>
        </p:nvSpPr>
        <p:spPr>
          <a:xfrm>
            <a:off x="4498848" y="434340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172200" y="4343400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407408" y="4425696"/>
            <a:ext cx="73152" cy="73152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56" name="Text 54"/>
          <p:cNvSpPr/>
          <p:nvPr/>
        </p:nvSpPr>
        <p:spPr>
          <a:xfrm>
            <a:off x="4498848" y="455828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172200" y="4558284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407408" y="4640580"/>
            <a:ext cx="73152" cy="73152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59" name="Text 57"/>
          <p:cNvSpPr/>
          <p:nvPr/>
        </p:nvSpPr>
        <p:spPr>
          <a:xfrm>
            <a:off x="4498848" y="477316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budgetAmount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172200" y="4773168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Int? (RM)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407408" y="4855464"/>
            <a:ext cx="73152" cy="73152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62" name="Text 60"/>
          <p:cNvSpPr/>
          <p:nvPr/>
        </p:nvSpPr>
        <p:spPr>
          <a:xfrm>
            <a:off x="4498848" y="4988052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expectedCloseAt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6172200" y="4988052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DateTime?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407408" y="5070348"/>
            <a:ext cx="73152" cy="73152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65" name="Text 63"/>
          <p:cNvSpPr/>
          <p:nvPr/>
        </p:nvSpPr>
        <p:spPr>
          <a:xfrm>
            <a:off x="4498848" y="5202936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nextFollowUpAt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172200" y="5202936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DateTime?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4407408" y="5285232"/>
            <a:ext cx="73152" cy="73152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68" name="Text 66"/>
          <p:cNvSpPr/>
          <p:nvPr/>
        </p:nvSpPr>
        <p:spPr>
          <a:xfrm>
            <a:off x="4498848" y="541782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lostReason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172200" y="5417820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LostReason?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407408" y="5500116"/>
            <a:ext cx="73152" cy="73152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71" name="Text 69"/>
          <p:cNvSpPr/>
          <p:nvPr/>
        </p:nvSpPr>
        <p:spPr>
          <a:xfrm>
            <a:off x="4498848" y="5632704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assignedToId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6172200" y="5632704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String? → User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7607808" y="5660136"/>
            <a:ext cx="256032" cy="201168"/>
          </a:xfrm>
          <a:prstGeom prst="rect">
            <a:avLst>
              <a:gd name="adj" fmla="val 18182"/>
            </a:avLst>
          </a:prstGeom>
          <a:solidFill>
            <a:srgbClr val="EEF0F4"/>
          </a:solidFill>
          <a:ln/>
        </p:spPr>
      </p:sp>
      <p:sp>
        <p:nvSpPr>
          <p:cNvPr id="74" name="Text 72"/>
          <p:cNvSpPr/>
          <p:nvPr/>
        </p:nvSpPr>
        <p:spPr>
          <a:xfrm>
            <a:off x="7607808" y="565099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498848" y="5847588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createdById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6172200" y="5847588"/>
            <a:ext cx="14977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→ User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7607808" y="5875020"/>
            <a:ext cx="256032" cy="201168"/>
          </a:xfrm>
          <a:prstGeom prst="rect">
            <a:avLst>
              <a:gd name="adj" fmla="val 18182"/>
            </a:avLst>
          </a:prstGeom>
          <a:solidFill>
            <a:srgbClr val="EEF0F4"/>
          </a:solidFill>
          <a:ln/>
        </p:spPr>
      </p:sp>
      <p:sp>
        <p:nvSpPr>
          <p:cNvPr id="78" name="Text 76"/>
          <p:cNvSpPr/>
          <p:nvPr/>
        </p:nvSpPr>
        <p:spPr>
          <a:xfrm>
            <a:off x="7607808" y="5865876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006840" y="1691640"/>
            <a:ext cx="2724912" cy="2103120"/>
          </a:xfrm>
          <a:prstGeom prst="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006840" y="1691640"/>
            <a:ext cx="2724912" cy="109728"/>
          </a:xfrm>
          <a:prstGeom prst="rect">
            <a:avLst>
              <a:gd name="adj" fmla="val 66667"/>
            </a:avLst>
          </a:prstGeom>
          <a:solidFill>
            <a:srgbClr val="D98A0B"/>
          </a:solidFill>
          <a:ln/>
        </p:spPr>
      </p:sp>
      <p:sp>
        <p:nvSpPr>
          <p:cNvPr id="81" name="Text 79"/>
          <p:cNvSpPr/>
          <p:nvPr/>
        </p:nvSpPr>
        <p:spPr>
          <a:xfrm>
            <a:off x="9171432" y="1837944"/>
            <a:ext cx="23957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9116568" y="2240280"/>
            <a:ext cx="1362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10369296" y="2240280"/>
            <a:ext cx="11444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11384280" y="2267712"/>
            <a:ext cx="256032" cy="201168"/>
          </a:xfrm>
          <a:prstGeom prst="rect">
            <a:avLst>
              <a:gd name="adj" fmla="val 18182"/>
            </a:avLst>
          </a:prstGeom>
          <a:solidFill>
            <a:srgbClr val="4A45E0"/>
          </a:solidFill>
          <a:ln/>
        </p:spPr>
      </p:sp>
      <p:sp>
        <p:nvSpPr>
          <p:cNvPr id="85" name="Text 83"/>
          <p:cNvSpPr/>
          <p:nvPr/>
        </p:nvSpPr>
        <p:spPr>
          <a:xfrm>
            <a:off x="11384280" y="225856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116568" y="2459736"/>
            <a:ext cx="1362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leadId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10369296" y="2459736"/>
            <a:ext cx="11444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→ Lead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11384280" y="2487168"/>
            <a:ext cx="256032" cy="201168"/>
          </a:xfrm>
          <a:prstGeom prst="rect">
            <a:avLst>
              <a:gd name="adj" fmla="val 18182"/>
            </a:avLst>
          </a:prstGeom>
          <a:solidFill>
            <a:srgbClr val="EEF0F4"/>
          </a:solidFill>
          <a:ln/>
        </p:spPr>
      </p:sp>
      <p:sp>
        <p:nvSpPr>
          <p:cNvPr id="89" name="Text 87"/>
          <p:cNvSpPr/>
          <p:nvPr/>
        </p:nvSpPr>
        <p:spPr>
          <a:xfrm>
            <a:off x="11384280" y="2478024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9116568" y="2679192"/>
            <a:ext cx="1362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10369296" y="2679192"/>
            <a:ext cx="11444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→ User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11384280" y="2706624"/>
            <a:ext cx="256032" cy="201168"/>
          </a:xfrm>
          <a:prstGeom prst="rect">
            <a:avLst>
              <a:gd name="adj" fmla="val 18182"/>
            </a:avLst>
          </a:prstGeom>
          <a:solidFill>
            <a:srgbClr val="EEF0F4"/>
          </a:solidFill>
          <a:ln/>
        </p:spPr>
      </p:sp>
      <p:sp>
        <p:nvSpPr>
          <p:cNvPr id="93" name="Text 91"/>
          <p:cNvSpPr/>
          <p:nvPr/>
        </p:nvSpPr>
        <p:spPr>
          <a:xfrm>
            <a:off x="11384280" y="2697480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9116568" y="2898648"/>
            <a:ext cx="1362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10369296" y="2898648"/>
            <a:ext cx="11444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ActivityType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9116568" y="3118104"/>
            <a:ext cx="1362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10369296" y="3118104"/>
            <a:ext cx="11444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9116568" y="3337560"/>
            <a:ext cx="1362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createdAt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10369296" y="3337560"/>
            <a:ext cx="11444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9006840" y="4023360"/>
            <a:ext cx="2724912" cy="10058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006840" y="4023360"/>
            <a:ext cx="2724912" cy="109728"/>
          </a:xfrm>
          <a:prstGeom prst="rect">
            <a:avLst>
              <a:gd name="adj" fmla="val 66667"/>
            </a:avLst>
          </a:prstGeom>
          <a:solidFill>
            <a:srgbClr val="2F6FED"/>
          </a:solidFill>
          <a:ln/>
        </p:spPr>
      </p:sp>
      <p:sp>
        <p:nvSpPr>
          <p:cNvPr id="102" name="Text 100"/>
          <p:cNvSpPr/>
          <p:nvPr/>
        </p:nvSpPr>
        <p:spPr>
          <a:xfrm>
            <a:off x="9171432" y="4169664"/>
            <a:ext cx="23957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CUSTOM_SOURCE</a:t>
            </a:r>
            <a:endParaRPr lang="en-US" sz="1200" dirty="0"/>
          </a:p>
        </p:txBody>
      </p:sp>
      <p:sp>
        <p:nvSpPr>
          <p:cNvPr id="103" name="Text 101"/>
          <p:cNvSpPr/>
          <p:nvPr/>
        </p:nvSpPr>
        <p:spPr>
          <a:xfrm>
            <a:off x="9144000" y="4480560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name (unique) · createdAt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9144000" y="4709160"/>
            <a:ext cx="2450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Team-added lead sources beyond the 6 built-ins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9006840" y="5120640"/>
            <a:ext cx="2724912" cy="1051560"/>
          </a:xfrm>
          <a:prstGeom prst="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006840" y="5120640"/>
            <a:ext cx="2724912" cy="109728"/>
          </a:xfrm>
          <a:prstGeom prst="rect">
            <a:avLst>
              <a:gd name="adj" fmla="val 66667"/>
            </a:avLst>
          </a:prstGeom>
          <a:solidFill>
            <a:srgbClr val="2F6FED"/>
          </a:solidFill>
          <a:ln/>
        </p:spPr>
      </p:sp>
      <p:sp>
        <p:nvSpPr>
          <p:cNvPr id="107" name="Text 105"/>
          <p:cNvSpPr/>
          <p:nvPr/>
        </p:nvSpPr>
        <p:spPr>
          <a:xfrm>
            <a:off x="9171432" y="5266944"/>
            <a:ext cx="23957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MESSAGE_TEMPLATE</a:t>
            </a:r>
            <a:endParaRPr lang="en-US" sz="1200" dirty="0"/>
          </a:p>
        </p:txBody>
      </p:sp>
      <p:sp>
        <p:nvSpPr>
          <p:cNvPr id="108" name="Text 106"/>
          <p:cNvSpPr/>
          <p:nvPr/>
        </p:nvSpPr>
        <p:spPr>
          <a:xfrm>
            <a:off x="9144000" y="5577840"/>
            <a:ext cx="2450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label (unique) · body · roles (CSV)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144000" y="5806440"/>
            <a:ext cx="2450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WhatsApp templates, role-scoped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3200400" y="2606040"/>
            <a:ext cx="1188720" cy="548640"/>
          </a:xfrm>
          <a:prstGeom prst="line">
            <a:avLst/>
          </a:prstGeom>
          <a:noFill/>
          <a:ln w="15875">
            <a:solidFill>
              <a:srgbClr val="5B6170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3337560" y="2752344"/>
            <a:ext cx="914400" cy="219456"/>
          </a:xfrm>
          <a:prstGeom prst="rect">
            <a:avLst>
              <a:gd name="adj" fmla="val 16667"/>
            </a:avLst>
          </a:prstGeom>
          <a:solidFill>
            <a:srgbClr val="F7F8FA"/>
          </a:solidFill>
          <a:ln w="6350">
            <a:solidFill>
              <a:srgbClr val="E6E8E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337560" y="275234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*  (assignedTo)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3200400" y="3246120"/>
            <a:ext cx="1188720" cy="1645920"/>
          </a:xfrm>
          <a:prstGeom prst="line">
            <a:avLst/>
          </a:prstGeom>
          <a:noFill/>
          <a:ln w="15875">
            <a:solidFill>
              <a:srgbClr val="5B6170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3337560" y="3941064"/>
            <a:ext cx="914400" cy="219456"/>
          </a:xfrm>
          <a:prstGeom prst="rect">
            <a:avLst>
              <a:gd name="adj" fmla="val 16667"/>
            </a:avLst>
          </a:prstGeom>
          <a:solidFill>
            <a:srgbClr val="F7F8FA"/>
          </a:solidFill>
          <a:ln w="6350">
            <a:solidFill>
              <a:srgbClr val="E6E8EE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337560" y="39410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*  (createdBy)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7955280" y="3063240"/>
            <a:ext cx="1051560" cy="-548640"/>
          </a:xfrm>
          <a:prstGeom prst="line">
            <a:avLst/>
          </a:prstGeom>
          <a:noFill/>
          <a:ln w="15875">
            <a:solidFill>
              <a:srgbClr val="5B6170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023860" y="2660904"/>
            <a:ext cx="914400" cy="219456"/>
          </a:xfrm>
          <a:prstGeom prst="rect">
            <a:avLst>
              <a:gd name="adj" fmla="val 16667"/>
            </a:avLst>
          </a:prstGeom>
          <a:solidFill>
            <a:srgbClr val="F7F8FA"/>
          </a:solidFill>
          <a:ln w="6350">
            <a:solidFill>
              <a:srgbClr val="E6E8E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023860" y="2660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*  timeline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1828800" y="3794760"/>
            <a:ext cx="0" cy="2057400"/>
          </a:xfrm>
          <a:prstGeom prst="line">
            <a:avLst/>
          </a:prstGeom>
          <a:noFill/>
          <a:ln w="15875">
            <a:solidFill>
              <a:srgbClr val="5B6170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1828800" y="5852160"/>
            <a:ext cx="7178040" cy="-2880360"/>
          </a:xfrm>
          <a:prstGeom prst="line">
            <a:avLst/>
          </a:prstGeom>
          <a:noFill/>
          <a:ln w="15875">
            <a:solidFill>
              <a:srgbClr val="5B6170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4960620" y="4283964"/>
            <a:ext cx="914400" cy="219456"/>
          </a:xfrm>
          <a:prstGeom prst="rect">
            <a:avLst>
              <a:gd name="adj" fmla="val 16667"/>
            </a:avLst>
          </a:prstGeom>
          <a:solidFill>
            <a:srgbClr val="F7F8FA"/>
          </a:solidFill>
          <a:ln w="6350">
            <a:solidFill>
              <a:srgbClr val="E6E8E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960620" y="42839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*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457200" y="5907024"/>
            <a:ext cx="128016" cy="128016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124" name="Text 122"/>
          <p:cNvSpPr/>
          <p:nvPr/>
        </p:nvSpPr>
        <p:spPr>
          <a:xfrm>
            <a:off x="640080" y="585216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/ evolved in Phase 2 (§14)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457200" y="6236208"/>
            <a:ext cx="256032" cy="201168"/>
          </a:xfrm>
          <a:prstGeom prst="rect">
            <a:avLst>
              <a:gd name="adj" fmla="val 18182"/>
            </a:avLst>
          </a:prstGeom>
          <a:solidFill>
            <a:srgbClr val="4A45E0"/>
          </a:solidFill>
          <a:ln/>
        </p:spPr>
      </p:sp>
      <p:sp>
        <p:nvSpPr>
          <p:cNvPr id="126" name="Text 124"/>
          <p:cNvSpPr/>
          <p:nvPr/>
        </p:nvSpPr>
        <p:spPr>
          <a:xfrm>
            <a:off x="457200" y="6217920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786384" y="62179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   ·   FK badge on a foreign-key column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A45E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 ·  A LOOK UNDER THE HOOD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works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11274552" cy="18288"/>
          </a:xfrm>
          <a:prstGeom prst="rect">
            <a:avLst/>
          </a:prstGeom>
          <a:solidFill>
            <a:srgbClr val="E6E8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Leadway  ·  Lead management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groups of people. One app. One clear record of what happened.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788920" cy="3383280"/>
          </a:xfrm>
          <a:prstGeom prst="rect">
            <a:avLst>
              <a:gd name="adj" fmla="val 2623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28800"/>
            <a:ext cx="2788920" cy="109728"/>
          </a:xfrm>
          <a:prstGeom prst="rect">
            <a:avLst>
              <a:gd name="adj" fmla="val 66667"/>
            </a:avLst>
          </a:prstGeom>
          <a:solidFill>
            <a:srgbClr val="4A45E0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1975104"/>
            <a:ext cx="2459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68880"/>
            <a:ext cx="384048" cy="384048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15568" y="2697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account · manages users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32918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5568" y="3566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pipeline · assigns leads · reviews reports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384048" cy="384048"/>
          </a:xfrm>
          <a:prstGeom prst="ellipse">
            <a:avLst/>
          </a:prstGeom>
          <a:solidFill>
            <a:srgbClr val="D98A0B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15568" y="4434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assigned leads · updates status · WhatsApps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49040" y="1828800"/>
            <a:ext cx="4709160" cy="3383280"/>
          </a:xfrm>
          <a:prstGeom prst="rect">
            <a:avLst>
              <a:gd name="adj" fmla="val 2162"/>
            </a:avLst>
          </a:prstGeom>
          <a:solidFill>
            <a:srgbClr val="ECEBFB"/>
          </a:solidFill>
          <a:ln w="19050">
            <a:solidFill>
              <a:srgbClr val="4A4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50208" y="1975104"/>
            <a:ext cx="4306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A4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LEADWAY  ·  THE APP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005072" y="2542032"/>
            <a:ext cx="128016" cy="128016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23" name="Text 21"/>
          <p:cNvSpPr/>
          <p:nvPr/>
        </p:nvSpPr>
        <p:spPr>
          <a:xfrm>
            <a:off x="4251960" y="246888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each person only what they should see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251960" y="2743200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reps see their own leads · managers see the team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05072" y="3182112"/>
            <a:ext cx="128016" cy="128016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26" name="Text 24"/>
          <p:cNvSpPr/>
          <p:nvPr/>
        </p:nvSpPr>
        <p:spPr>
          <a:xfrm>
            <a:off x="4251960" y="310896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allows the right next step in the pipeline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251960" y="3383280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skipping — one stage forward at a time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005072" y="3822192"/>
            <a:ext cx="128016" cy="128016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29" name="Text 27"/>
          <p:cNvSpPr/>
          <p:nvPr/>
        </p:nvSpPr>
        <p:spPr>
          <a:xfrm>
            <a:off x="4251960" y="374904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every lead automatically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51960" y="4023360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budget, timeline, decision-maker — kept up to date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005072" y="4462272"/>
            <a:ext cx="128016" cy="128016"/>
          </a:xfrm>
          <a:prstGeom prst="ellipse">
            <a:avLst/>
          </a:prstGeom>
          <a:solidFill>
            <a:srgbClr val="4A45E0"/>
          </a:solidFill>
          <a:ln/>
        </p:spPr>
      </p:sp>
      <p:sp>
        <p:nvSpPr>
          <p:cNvPr id="32" name="Text 30"/>
          <p:cNvSpPr/>
          <p:nvPr/>
        </p:nvSpPr>
        <p:spPr>
          <a:xfrm>
            <a:off x="4251960" y="438912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the team what needs attention today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251960" y="4663440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follow-ups, idle leads, hottest deals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961120" y="1828800"/>
            <a:ext cx="2773375" cy="1600200"/>
          </a:xfrm>
          <a:prstGeom prst="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0" y="1828800"/>
            <a:ext cx="2773375" cy="109728"/>
          </a:xfrm>
          <a:prstGeom prst="rect">
            <a:avLst>
              <a:gd name="adj" fmla="val 66667"/>
            </a:avLst>
          </a:prstGeom>
          <a:solidFill>
            <a:srgbClr val="17915B"/>
          </a:solidFill>
          <a:ln/>
        </p:spPr>
      </p:sp>
      <p:sp>
        <p:nvSpPr>
          <p:cNvPr id="36" name="Text 34"/>
          <p:cNvSpPr/>
          <p:nvPr/>
        </p:nvSpPr>
        <p:spPr>
          <a:xfrm>
            <a:off x="9125712" y="1975104"/>
            <a:ext cx="24441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RECORDS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44000" y="2377440"/>
            <a:ext cx="24533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is stored — who did what, when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144000" y="2697480"/>
            <a:ext cx="245333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history of each lead lives in one place — nothing is deleted, so audits and reports always add up.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961120" y="3611880"/>
            <a:ext cx="2773375" cy="1600200"/>
          </a:xfrm>
          <a:prstGeom prst="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1120" y="3611880"/>
            <a:ext cx="2773375" cy="109728"/>
          </a:xfrm>
          <a:prstGeom prst="rect">
            <a:avLst>
              <a:gd name="adj" fmla="val 66667"/>
            </a:avLst>
          </a:prstGeom>
          <a:solidFill>
            <a:srgbClr val="0E9AA7"/>
          </a:solidFill>
          <a:ln/>
        </p:spPr>
      </p:sp>
      <p:sp>
        <p:nvSpPr>
          <p:cNvPr id="41" name="Text 39"/>
          <p:cNvSpPr/>
          <p:nvPr/>
        </p:nvSpPr>
        <p:spPr>
          <a:xfrm>
            <a:off x="9125712" y="3758184"/>
            <a:ext cx="24441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IN ONE TAP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144000" y="4160520"/>
            <a:ext cx="24533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WhatsApp with the message ready to send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44000" y="4480560"/>
            <a:ext cx="245333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lead's name and company drop in automatically. The team never copy-pastes phone numbers — and every contact is recorded in the history.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91840" y="3520440"/>
            <a:ext cx="365760" cy="0"/>
          </a:xfrm>
          <a:prstGeom prst="line">
            <a:avLst/>
          </a:prstGeom>
          <a:noFill/>
          <a:ln w="38100">
            <a:solidFill>
              <a:srgbClr val="4A45E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8503920" y="2628900"/>
            <a:ext cx="365760" cy="0"/>
          </a:xfrm>
          <a:prstGeom prst="line">
            <a:avLst/>
          </a:prstGeom>
          <a:noFill/>
          <a:ln w="31750">
            <a:solidFill>
              <a:srgbClr val="4A45E0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503920" y="4411980"/>
            <a:ext cx="365760" cy="0"/>
          </a:xfrm>
          <a:prstGeom prst="line">
            <a:avLst/>
          </a:prstGeom>
          <a:noFill/>
          <a:ln w="31750">
            <a:solidFill>
              <a:srgbClr val="4A45E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457200" y="5532120"/>
            <a:ext cx="3636264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" y="5532120"/>
            <a:ext cx="3636264" cy="109728"/>
          </a:xfrm>
          <a:prstGeom prst="rect">
            <a:avLst>
              <a:gd name="adj" fmla="val 66667"/>
            </a:avLst>
          </a:prstGeom>
          <a:solidFill>
            <a:srgbClr val="4A45E0"/>
          </a:solidFill>
          <a:ln/>
        </p:spPr>
      </p:sp>
      <p:sp>
        <p:nvSpPr>
          <p:cNvPr id="49" name="Text 47"/>
          <p:cNvSpPr/>
          <p:nvPr/>
        </p:nvSpPr>
        <p:spPr>
          <a:xfrm>
            <a:off x="621792" y="5678424"/>
            <a:ext cx="3307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IN THE FIELD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40080" y="5989320"/>
            <a:ext cx="331622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in Singapore — quick to open on any phone or laptop with an internet connection.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276344" y="5532120"/>
            <a:ext cx="3636264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76344" y="5532120"/>
            <a:ext cx="3636264" cy="109728"/>
          </a:xfrm>
          <a:prstGeom prst="rect">
            <a:avLst>
              <a:gd name="adj" fmla="val 66667"/>
            </a:avLst>
          </a:prstGeom>
          <a:solidFill>
            <a:srgbClr val="17915B"/>
          </a:solidFill>
          <a:ln/>
        </p:spPr>
      </p:sp>
      <p:sp>
        <p:nvSpPr>
          <p:cNvPr id="53" name="Text 51"/>
          <p:cNvSpPr/>
          <p:nvPr/>
        </p:nvSpPr>
        <p:spPr>
          <a:xfrm>
            <a:off x="4440936" y="5678424"/>
            <a:ext cx="3307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LOST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459224" y="5989320"/>
            <a:ext cx="331622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recorded and dated. Later, reports build themselves from that record.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095488" y="5532120"/>
            <a:ext cx="3636264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095488" y="5532120"/>
            <a:ext cx="3636264" cy="109728"/>
          </a:xfrm>
          <a:prstGeom prst="rect">
            <a:avLst>
              <a:gd name="adj" fmla="val 66667"/>
            </a:avLst>
          </a:prstGeom>
          <a:solidFill>
            <a:srgbClr val="0E9AA7"/>
          </a:solidFill>
          <a:ln/>
        </p:spPr>
      </p:sp>
      <p:sp>
        <p:nvSpPr>
          <p:cNvPr id="57" name="Text 55"/>
          <p:cNvSpPr/>
          <p:nvPr/>
        </p:nvSpPr>
        <p:spPr>
          <a:xfrm>
            <a:off x="8260080" y="5678424"/>
            <a:ext cx="3307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EXISTING TOOLS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278368" y="5989320"/>
            <a:ext cx="331622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WhatsApp the team already knows — no new app to learn, no new phone number to give customers.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A45E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 ·  SYSTEM DESIGN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11274552" cy="18288"/>
          </a:xfrm>
          <a:prstGeom prst="rect">
            <a:avLst/>
          </a:prstGeom>
          <a:solidFill>
            <a:srgbClr val="E6E8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Leadway  ·  Lead management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 · route groups keep the auth shell separate from public pages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669280" cy="4846320"/>
          </a:xfrm>
          <a:prstGeom prst="rect">
            <a:avLst>
              <a:gd name="adj" fmla="val 1509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837944"/>
            <a:ext cx="5340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240280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leadway/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2240280"/>
            <a:ext cx="32004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0352" y="2414016"/>
            <a:ext cx="5522976" cy="192024"/>
          </a:xfrm>
          <a:prstGeom prst="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2432304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154680" y="2432304"/>
            <a:ext cx="2880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+ pages (App Router)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30352" y="2606040"/>
            <a:ext cx="5522976" cy="192024"/>
          </a:xfrm>
          <a:prstGeom prst="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1280160" y="2624328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(app)/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74720" y="2624328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auth-required shell (layout guard)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2798064"/>
            <a:ext cx="5522976" cy="192024"/>
          </a:xfrm>
          <a:prstGeom prst="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19" name="Text 17"/>
          <p:cNvSpPr/>
          <p:nvPr/>
        </p:nvSpPr>
        <p:spPr>
          <a:xfrm>
            <a:off x="1600200" y="2816352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dashboard/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94760" y="2816352"/>
            <a:ext cx="224028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role-scoped KPIs + attention queue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0352" y="2990088"/>
            <a:ext cx="5522976" cy="192024"/>
          </a:xfrm>
          <a:prstGeom prst="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22" name="Text 20"/>
          <p:cNvSpPr/>
          <p:nvPr/>
        </p:nvSpPr>
        <p:spPr>
          <a:xfrm>
            <a:off x="1600200" y="3008376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leads/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794760" y="3008376"/>
            <a:ext cx="224028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list, detail [id], actions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30352" y="3182112"/>
            <a:ext cx="5522976" cy="192024"/>
          </a:xfrm>
          <a:prstGeom prst="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25" name="Text 23"/>
          <p:cNvSpPr/>
          <p:nvPr/>
        </p:nvSpPr>
        <p:spPr>
          <a:xfrm>
            <a:off x="1600200" y="3200400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794760" y="3200400"/>
            <a:ext cx="224028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Manager/Admin analytics (§14.6)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30352" y="3374136"/>
            <a:ext cx="5522976" cy="192024"/>
          </a:xfrm>
          <a:prstGeom prst="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1600200" y="3392424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templates/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794760" y="3392424"/>
            <a:ext cx="224028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templates CRUD (§14.9)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30352" y="3566160"/>
            <a:ext cx="5522976" cy="192024"/>
          </a:xfrm>
          <a:prstGeom prst="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31" name="Text 29"/>
          <p:cNvSpPr/>
          <p:nvPr/>
        </p:nvSpPr>
        <p:spPr>
          <a:xfrm>
            <a:off x="1600200" y="3584448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users/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794760" y="3584448"/>
            <a:ext cx="224028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user management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280160" y="3776472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login/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474720" y="3776472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login page + action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60120" y="3968496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components/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154680" y="3968496"/>
            <a:ext cx="2880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components (dialogs, panels)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30352" y="4142232"/>
            <a:ext cx="5522976" cy="192024"/>
          </a:xfrm>
          <a:prstGeom prst="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38" name="Text 36"/>
          <p:cNvSpPr/>
          <p:nvPr/>
        </p:nvSpPr>
        <p:spPr>
          <a:xfrm>
            <a:off x="960120" y="4160520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154680" y="4160520"/>
            <a:ext cx="2880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business modules (tested)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280160" y="4352544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auth.ts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474720" y="4352544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+ requireUser guard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280160" y="4544568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permissions.ts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474720" y="4544568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can(user, action, lead?)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280160" y="4736592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transitions.ts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474720" y="4736592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rule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30352" y="4910328"/>
            <a:ext cx="5522976" cy="192024"/>
          </a:xfrm>
          <a:prstGeom prst="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47" name="Text 45"/>
          <p:cNvSpPr/>
          <p:nvPr/>
        </p:nvSpPr>
        <p:spPr>
          <a:xfrm>
            <a:off x="1280160" y="4928616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scoring.ts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474720" y="4928616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score + temperature (§14.2)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30352" y="5102352"/>
            <a:ext cx="5522976" cy="192024"/>
          </a:xfrm>
          <a:prstGeom prst="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50" name="Text 48"/>
          <p:cNvSpPr/>
          <p:nvPr/>
        </p:nvSpPr>
        <p:spPr>
          <a:xfrm>
            <a:off x="1280160" y="5120640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45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velocity.ts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474720" y="5120640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days + conversion (§14.5)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280160" y="5312664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whatsapp.ts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3474720" y="5312664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phone, wa.me, template roles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960120" y="5504688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prisma/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154680" y="5504688"/>
            <a:ext cx="2880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seed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1280160" y="5696712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schema.prisma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3474720" y="5696712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(dev / offline demo)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1280160" y="5888736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schema.postgres.prisma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3474720" y="5888736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(prod, Neon)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280160" y="6080760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seed.ts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3474720" y="6080760"/>
            <a:ext cx="25603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users · 16 leads · 14 templates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960120" y="6272784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3154680" y="6272784"/>
            <a:ext cx="2880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— 64 tests, five files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960120" y="6464808"/>
            <a:ext cx="21945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3154680" y="6464808"/>
            <a:ext cx="288036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 · user manual · ai-log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355080" y="1691640"/>
            <a:ext cx="5376672" cy="1517904"/>
          </a:xfrm>
          <a:prstGeom prst="rect">
            <a:avLst>
              <a:gd name="adj" fmla="val 4819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55080" y="1691640"/>
            <a:ext cx="5376672" cy="109728"/>
          </a:xfrm>
          <a:prstGeom prst="rect">
            <a:avLst>
              <a:gd name="adj" fmla="val 66667"/>
            </a:avLst>
          </a:prstGeom>
          <a:solidFill>
            <a:srgbClr val="0E9AA7"/>
          </a:solidFill>
          <a:ln/>
        </p:spPr>
      </p:sp>
      <p:sp>
        <p:nvSpPr>
          <p:cNvPr id="68" name="Text 66"/>
          <p:cNvSpPr/>
          <p:nvPr/>
        </p:nvSpPr>
        <p:spPr>
          <a:xfrm>
            <a:off x="6519672" y="1837944"/>
            <a:ext cx="50474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Rules live in pure lib modules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6556248" y="2194560"/>
            <a:ext cx="4974336" cy="923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permissions, transitions, whatsapp, scoring, velocity have zero framework imports — they take primitives and return primitives, so Vitest runs them in ~13 ms across 64 assertions. When a rule changes, the module and its test change together (project convention).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355080" y="3355848"/>
            <a:ext cx="5376672" cy="1517904"/>
          </a:xfrm>
          <a:prstGeom prst="rect">
            <a:avLst>
              <a:gd name="adj" fmla="val 4819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55080" y="3355848"/>
            <a:ext cx="5376672" cy="109728"/>
          </a:xfrm>
          <a:prstGeom prst="rect">
            <a:avLst>
              <a:gd name="adj" fmla="val 66667"/>
            </a:avLst>
          </a:prstGeom>
          <a:solidFill>
            <a:srgbClr val="D98A0B"/>
          </a:solidFill>
          <a:ln/>
        </p:spPr>
      </p:sp>
      <p:sp>
        <p:nvSpPr>
          <p:cNvPr id="72" name="Text 70"/>
          <p:cNvSpPr/>
          <p:nvPr/>
        </p:nvSpPr>
        <p:spPr>
          <a:xfrm>
            <a:off x="6519672" y="3502152"/>
            <a:ext cx="50474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Every mutation is a server action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6556248" y="3858768"/>
            <a:ext cx="4974336" cy="923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createLead, changeLeadStatus, setFollowUp, addCustomSource, createTemplate all rerun session + can() + rule checks server-side, then write an Activity row before revalidatePath. The UI is never the security boundary.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355080" y="5020056"/>
            <a:ext cx="5376672" cy="1517904"/>
          </a:xfrm>
          <a:prstGeom prst="rect">
            <a:avLst>
              <a:gd name="adj" fmla="val 4819"/>
            </a:avLst>
          </a:prstGeom>
          <a:solidFill>
            <a:srgbClr val="FFFFFF"/>
          </a:solidFill>
          <a:ln w="9525">
            <a:solidFill>
              <a:srgbClr val="E6E8E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55080" y="5020056"/>
            <a:ext cx="5376672" cy="109728"/>
          </a:xfrm>
          <a:prstGeom prst="rect">
            <a:avLst>
              <a:gd name="adj" fmla="val 66667"/>
            </a:avLst>
          </a:prstGeom>
          <a:solidFill>
            <a:srgbClr val="4A45E0"/>
          </a:solidFill>
          <a:ln/>
        </p:spPr>
      </p:sp>
      <p:sp>
        <p:nvSpPr>
          <p:cNvPr id="76" name="Text 74"/>
          <p:cNvSpPr/>
          <p:nvPr/>
        </p:nvSpPr>
        <p:spPr>
          <a:xfrm>
            <a:off x="6519672" y="5166360"/>
            <a:ext cx="50474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1C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Audit trail is the analytics source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56248" y="5522976"/>
            <a:ext cx="4974336" cy="923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STATUS_CHANGE is a timestamped Activity row. lib/velocity.ts reconstructs each lead's stage history from those rows — no extra tracking. The Reports screen's velocity strip, sales cycle, and monthly outcomes are all derived from it.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Leadway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Leadway — architecture supplement</dc:title>
  <dc:subject>PptxGenJS Presentation</dc:subject>
  <dc:creator>PptxGenJS</dc:creator>
  <cp:lastModifiedBy>PptxGenJS</cp:lastModifiedBy>
  <cp:revision>1</cp:revision>
  <dcterms:created xsi:type="dcterms:W3CDTF">2026-07-13T13:02:13Z</dcterms:created>
  <dcterms:modified xsi:type="dcterms:W3CDTF">2026-07-13T13:02:13Z</dcterms:modified>
</cp:coreProperties>
</file>