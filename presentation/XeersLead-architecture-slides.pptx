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45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 ·  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 ·  Lead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· Prisma is the source of truth · every mutation writes an Activity row (audit trail)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109728"/>
          </a:xfrm>
          <a:prstGeom prst="rect">
            <a:avLst>
              <a:gd name="adj" fmla="val 66667"/>
            </a:avLst>
          </a:prstGeom>
          <a:solidFill>
            <a:srgbClr val="4A45E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37944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224028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52928" y="2267712"/>
            <a:ext cx="256032" cy="201168"/>
          </a:xfrm>
          <a:prstGeom prst="rect">
            <a:avLst>
              <a:gd name="adj" fmla="val 18182"/>
            </a:avLst>
          </a:prstGeom>
          <a:solidFill>
            <a:srgbClr val="4A45E0"/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22585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2459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2459736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2679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267919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(unique)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2898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2898648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118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3118104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8800" y="333756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3557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28800" y="3557016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1691640"/>
            <a:ext cx="3566160" cy="44805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1691640"/>
            <a:ext cx="3566160" cy="109728"/>
          </a:xfrm>
          <a:prstGeom prst="rect">
            <a:avLst>
              <a:gd name="adj" fmla="val 66667"/>
            </a:avLst>
          </a:prstGeom>
          <a:solidFill>
            <a:srgbClr val="0E9AA7"/>
          </a:solidFill>
          <a:ln/>
        </p:spPr>
      </p:sp>
      <p:sp>
        <p:nvSpPr>
          <p:cNvPr id="29" name="Text 27"/>
          <p:cNvSpPr/>
          <p:nvPr/>
        </p:nvSpPr>
        <p:spPr>
          <a:xfrm>
            <a:off x="4553712" y="183794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98848" y="2194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2194560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07808" y="2221992"/>
            <a:ext cx="256032" cy="201168"/>
          </a:xfrm>
          <a:prstGeom prst="rect">
            <a:avLst>
              <a:gd name="adj" fmla="val 18182"/>
            </a:avLst>
          </a:prstGeom>
          <a:solidFill>
            <a:srgbClr val="4A45E0"/>
          </a:solidFill>
          <a:ln/>
        </p:spPr>
      </p:sp>
      <p:sp>
        <p:nvSpPr>
          <p:cNvPr id="33" name="Text 31"/>
          <p:cNvSpPr/>
          <p:nvPr/>
        </p:nvSpPr>
        <p:spPr>
          <a:xfrm>
            <a:off x="7607808" y="22128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98848" y="24094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2409444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98848" y="26243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72200" y="2624328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98848" y="28392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2839212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98848" y="30540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054096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98848" y="32689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3268980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(LeadSource / custom)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98848" y="34838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72200" y="3483864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LeadStatus enum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98848" y="36987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dealValue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72200" y="3698748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(RM)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498848" y="3913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72200" y="3913632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String?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498848" y="41285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budgetStatus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72200" y="4128516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BudgetStatus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07408" y="4210812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3" name="Text 51"/>
          <p:cNvSpPr/>
          <p:nvPr/>
        </p:nvSpPr>
        <p:spPr>
          <a:xfrm>
            <a:off x="4498848" y="4343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72200" y="4343400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407408" y="4425696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6" name="Text 54"/>
          <p:cNvSpPr/>
          <p:nvPr/>
        </p:nvSpPr>
        <p:spPr>
          <a:xfrm>
            <a:off x="4498848" y="45582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172200" y="4558284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07408" y="4640580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9" name="Text 57"/>
          <p:cNvSpPr/>
          <p:nvPr/>
        </p:nvSpPr>
        <p:spPr>
          <a:xfrm>
            <a:off x="4498848" y="47731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budgetAmount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172200" y="4773168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Int? (RM)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07408" y="4855464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2" name="Text 60"/>
          <p:cNvSpPr/>
          <p:nvPr/>
        </p:nvSpPr>
        <p:spPr>
          <a:xfrm>
            <a:off x="4498848" y="49880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expectedCloseAt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172200" y="4988052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DateTime?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07408" y="5070348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5" name="Text 63"/>
          <p:cNvSpPr/>
          <p:nvPr/>
        </p:nvSpPr>
        <p:spPr>
          <a:xfrm>
            <a:off x="4498848" y="520293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nextFollowUpAt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172200" y="5202936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DateTime?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407408" y="5285232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8" name="Text 66"/>
          <p:cNvSpPr/>
          <p:nvPr/>
        </p:nvSpPr>
        <p:spPr>
          <a:xfrm>
            <a:off x="4498848" y="54178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lostReason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172200" y="5417820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LostReason?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407408" y="5500116"/>
            <a:ext cx="73152" cy="73152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71" name="Text 69"/>
          <p:cNvSpPr/>
          <p:nvPr/>
        </p:nvSpPr>
        <p:spPr>
          <a:xfrm>
            <a:off x="4498848" y="563270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assignedToId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172200" y="5632704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String? → User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607808" y="5660136"/>
            <a:ext cx="256032" cy="201168"/>
          </a:xfrm>
          <a:prstGeom prst="rect">
            <a:avLst>
              <a:gd name="adj" fmla="val 18182"/>
            </a:avLst>
          </a:prstGeom>
          <a:solidFill>
            <a:srgbClr val="EEF0F4"/>
          </a:solidFill>
          <a:ln/>
        </p:spPr>
      </p:sp>
      <p:sp>
        <p:nvSpPr>
          <p:cNvPr id="74" name="Text 72"/>
          <p:cNvSpPr/>
          <p:nvPr/>
        </p:nvSpPr>
        <p:spPr>
          <a:xfrm>
            <a:off x="7607808" y="5650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498848" y="58475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createdById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172200" y="5847588"/>
            <a:ext cx="1497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User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607808" y="5875020"/>
            <a:ext cx="256032" cy="201168"/>
          </a:xfrm>
          <a:prstGeom prst="rect">
            <a:avLst>
              <a:gd name="adj" fmla="val 18182"/>
            </a:avLst>
          </a:prstGeom>
          <a:solidFill>
            <a:srgbClr val="EEF0F4"/>
          </a:solidFill>
          <a:ln/>
        </p:spPr>
      </p:sp>
      <p:sp>
        <p:nvSpPr>
          <p:cNvPr id="78" name="Text 76"/>
          <p:cNvSpPr/>
          <p:nvPr/>
        </p:nvSpPr>
        <p:spPr>
          <a:xfrm>
            <a:off x="7607808" y="58658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006840" y="1691640"/>
            <a:ext cx="2724912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06840" y="1691640"/>
            <a:ext cx="2724912" cy="109728"/>
          </a:xfrm>
          <a:prstGeom prst="rect">
            <a:avLst>
              <a:gd name="adj" fmla="val 66667"/>
            </a:avLst>
          </a:prstGeom>
          <a:solidFill>
            <a:srgbClr val="D98A0B"/>
          </a:solidFill>
          <a:ln/>
        </p:spPr>
      </p:sp>
      <p:sp>
        <p:nvSpPr>
          <p:cNvPr id="81" name="Text 79"/>
          <p:cNvSpPr/>
          <p:nvPr/>
        </p:nvSpPr>
        <p:spPr>
          <a:xfrm>
            <a:off x="9171432" y="183794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116568" y="2240280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10369296" y="2240280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1384280" y="2267712"/>
            <a:ext cx="256032" cy="201168"/>
          </a:xfrm>
          <a:prstGeom prst="rect">
            <a:avLst>
              <a:gd name="adj" fmla="val 18182"/>
            </a:avLst>
          </a:prstGeom>
          <a:solidFill>
            <a:srgbClr val="4A45E0"/>
          </a:solidFill>
          <a:ln/>
        </p:spPr>
      </p:sp>
      <p:sp>
        <p:nvSpPr>
          <p:cNvPr id="85" name="Text 83"/>
          <p:cNvSpPr/>
          <p:nvPr/>
        </p:nvSpPr>
        <p:spPr>
          <a:xfrm>
            <a:off x="11384280" y="22585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9116568" y="2459736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leadId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0369296" y="2459736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Lead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1384280" y="2487168"/>
            <a:ext cx="256032" cy="201168"/>
          </a:xfrm>
          <a:prstGeom prst="rect">
            <a:avLst>
              <a:gd name="adj" fmla="val 18182"/>
            </a:avLst>
          </a:prstGeom>
          <a:solidFill>
            <a:srgbClr val="EEF0F4"/>
          </a:solidFill>
          <a:ln/>
        </p:spPr>
      </p:sp>
      <p:sp>
        <p:nvSpPr>
          <p:cNvPr id="89" name="Text 87"/>
          <p:cNvSpPr/>
          <p:nvPr/>
        </p:nvSpPr>
        <p:spPr>
          <a:xfrm>
            <a:off x="11384280" y="247802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116568" y="2679192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0369296" y="2679192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User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1384280" y="2706624"/>
            <a:ext cx="256032" cy="201168"/>
          </a:xfrm>
          <a:prstGeom prst="rect">
            <a:avLst>
              <a:gd name="adj" fmla="val 18182"/>
            </a:avLst>
          </a:prstGeom>
          <a:solidFill>
            <a:srgbClr val="EEF0F4"/>
          </a:solidFill>
          <a:ln/>
        </p:spPr>
      </p:sp>
      <p:sp>
        <p:nvSpPr>
          <p:cNvPr id="93" name="Text 91"/>
          <p:cNvSpPr/>
          <p:nvPr/>
        </p:nvSpPr>
        <p:spPr>
          <a:xfrm>
            <a:off x="11384280" y="269748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116568" y="2898648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10369296" y="2898648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ActivityType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9116568" y="3118104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0369296" y="3118104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9116568" y="3337560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10369296" y="3337560"/>
            <a:ext cx="1144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9006840" y="4023360"/>
            <a:ext cx="2724912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06840" y="4023360"/>
            <a:ext cx="2724912" cy="109728"/>
          </a:xfrm>
          <a:prstGeom prst="rect">
            <a:avLst>
              <a:gd name="adj" fmla="val 66667"/>
            </a:avLst>
          </a:prstGeom>
          <a:solidFill>
            <a:srgbClr val="2F6FED"/>
          </a:solidFill>
          <a:ln/>
        </p:spPr>
      </p:sp>
      <p:sp>
        <p:nvSpPr>
          <p:cNvPr id="102" name="Text 100"/>
          <p:cNvSpPr/>
          <p:nvPr/>
        </p:nvSpPr>
        <p:spPr>
          <a:xfrm>
            <a:off x="9171432" y="416966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CUSTOM_SOURCE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9144000" y="44805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(unique) · createdAt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9144000" y="47091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Team-added lead sources beyond the 6 built-ins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9006840" y="5120640"/>
            <a:ext cx="2724912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06840" y="5120640"/>
            <a:ext cx="2724912" cy="109728"/>
          </a:xfrm>
          <a:prstGeom prst="rect">
            <a:avLst>
              <a:gd name="adj" fmla="val 66667"/>
            </a:avLst>
          </a:prstGeom>
          <a:solidFill>
            <a:srgbClr val="2F6FED"/>
          </a:solidFill>
          <a:ln/>
        </p:spPr>
      </p:sp>
      <p:sp>
        <p:nvSpPr>
          <p:cNvPr id="107" name="Text 105"/>
          <p:cNvSpPr/>
          <p:nvPr/>
        </p:nvSpPr>
        <p:spPr>
          <a:xfrm>
            <a:off x="9171432" y="526694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MESSAGE_TEMPLATE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9144000" y="557784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label (unique) · body · roles (CSV)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144000" y="580644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WhatsApp templates, role-scoped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00400" y="2606040"/>
            <a:ext cx="1188720" cy="548640"/>
          </a:xfrm>
          <a:prstGeom prst="line">
            <a:avLst/>
          </a:prstGeom>
          <a:noFill/>
          <a:ln w="15875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337560" y="2752344"/>
            <a:ext cx="914400" cy="219456"/>
          </a:xfrm>
          <a:prstGeom prst="rect">
            <a:avLst>
              <a:gd name="adj" fmla="val 16667"/>
            </a:avLst>
          </a:prstGeom>
          <a:solidFill>
            <a:srgbClr val="F7F8FA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337560" y="275234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  (assignedTo)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200400" y="3246120"/>
            <a:ext cx="1188720" cy="1645920"/>
          </a:xfrm>
          <a:prstGeom prst="line">
            <a:avLst/>
          </a:prstGeom>
          <a:noFill/>
          <a:ln w="15875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3337560" y="3941064"/>
            <a:ext cx="914400" cy="219456"/>
          </a:xfrm>
          <a:prstGeom prst="rect">
            <a:avLst>
              <a:gd name="adj" fmla="val 16667"/>
            </a:avLst>
          </a:prstGeom>
          <a:solidFill>
            <a:srgbClr val="F7F8FA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337560" y="39410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  (createdBy)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955280" y="3063240"/>
            <a:ext cx="1051560" cy="-548640"/>
          </a:xfrm>
          <a:prstGeom prst="line">
            <a:avLst/>
          </a:prstGeom>
          <a:noFill/>
          <a:ln w="15875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8023860" y="2660904"/>
            <a:ext cx="914400" cy="219456"/>
          </a:xfrm>
          <a:prstGeom prst="rect">
            <a:avLst>
              <a:gd name="adj" fmla="val 16667"/>
            </a:avLst>
          </a:prstGeom>
          <a:solidFill>
            <a:srgbClr val="F7F8FA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3860" y="26609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  timeline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828800" y="3794760"/>
            <a:ext cx="0" cy="2057400"/>
          </a:xfrm>
          <a:prstGeom prst="line">
            <a:avLst/>
          </a:prstGeom>
          <a:noFill/>
          <a:ln w="15875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1828800" y="5852160"/>
            <a:ext cx="7178040" cy="-2880360"/>
          </a:xfrm>
          <a:prstGeom prst="line">
            <a:avLst/>
          </a:prstGeom>
          <a:noFill/>
          <a:ln w="15875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4960620" y="4283964"/>
            <a:ext cx="914400" cy="219456"/>
          </a:xfrm>
          <a:prstGeom prst="rect">
            <a:avLst>
              <a:gd name="adj" fmla="val 16667"/>
            </a:avLst>
          </a:prstGeom>
          <a:solidFill>
            <a:srgbClr val="F7F8FA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960620" y="42839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57200" y="5907024"/>
            <a:ext cx="128016" cy="128016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24" name="Text 122"/>
          <p:cNvSpPr/>
          <p:nvPr/>
        </p:nvSpPr>
        <p:spPr>
          <a:xfrm>
            <a:off x="640080" y="5852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/ evolved in Phase 2 (§14)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57200" y="6236208"/>
            <a:ext cx="256032" cy="201168"/>
          </a:xfrm>
          <a:prstGeom prst="rect">
            <a:avLst>
              <a:gd name="adj" fmla="val 18182"/>
            </a:avLst>
          </a:prstGeom>
          <a:solidFill>
            <a:srgbClr val="4A45E0"/>
          </a:solidFill>
          <a:ln/>
        </p:spPr>
      </p:sp>
      <p:sp>
        <p:nvSpPr>
          <p:cNvPr id="126" name="Text 124"/>
          <p:cNvSpPr/>
          <p:nvPr/>
        </p:nvSpPr>
        <p:spPr>
          <a:xfrm>
            <a:off x="457200" y="621792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786384" y="6217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  ·   FK badge on a foreign-key column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45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 ·  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 ·  Lead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full-stack on Vercel · Prisma over PostgreSQL (Neon) · WhatsApp click-to-chat (ADR-0002)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35661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2651760" cy="109728"/>
          </a:xfrm>
          <a:prstGeom prst="rect">
            <a:avLst>
              <a:gd name="adj" fmla="val 66667"/>
            </a:avLst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75104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245059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3957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6517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dashboard, leads,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" y="299923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200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dialogs, dropdowns, motion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354787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93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Dropdown, Modal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selects app-wide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409651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41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297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count-up, funnel wipe, pill flush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" y="464515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590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cookies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846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 (HttpOnly, SameSite=lax)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9000" y="1828800"/>
            <a:ext cx="2651760" cy="35661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1828800"/>
            <a:ext cx="2651760" cy="109728"/>
          </a:xfrm>
          <a:prstGeom prst="rect">
            <a:avLst>
              <a:gd name="adj" fmla="val 66667"/>
            </a:avLst>
          </a:prstGeom>
          <a:solidFill>
            <a:srgbClr val="0E9AA7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1975104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VERCEL sin1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93592" y="24414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30" name="Text 28"/>
          <p:cNvSpPr/>
          <p:nvPr/>
        </p:nvSpPr>
        <p:spPr>
          <a:xfrm>
            <a:off x="3776472" y="239572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76472" y="25968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 — verifies session cookie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93592" y="2843784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33" name="Text 31"/>
          <p:cNvSpPr/>
          <p:nvPr/>
        </p:nvSpPr>
        <p:spPr>
          <a:xfrm>
            <a:off x="3776472" y="27980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76472" y="29992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can() + transition rule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93592" y="3246120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36" name="Text 34"/>
          <p:cNvSpPr/>
          <p:nvPr/>
        </p:nvSpPr>
        <p:spPr>
          <a:xfrm>
            <a:off x="3776472" y="320040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lib/permissions.ts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76472" y="34015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unit-tested (14 tests)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93592" y="3648456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39" name="Text 37"/>
          <p:cNvSpPr/>
          <p:nvPr/>
        </p:nvSpPr>
        <p:spPr>
          <a:xfrm>
            <a:off x="3776472" y="360273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lib/transitions.ts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776472" y="38039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one-step-forward funnel rule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93592" y="4050792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42" name="Text 40"/>
          <p:cNvSpPr/>
          <p:nvPr/>
        </p:nvSpPr>
        <p:spPr>
          <a:xfrm>
            <a:off x="3776472" y="400507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lib/scoring.ts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76472" y="4206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score, temperature (ADR-0003)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93592" y="445312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45" name="Text 43"/>
          <p:cNvSpPr/>
          <p:nvPr/>
        </p:nvSpPr>
        <p:spPr>
          <a:xfrm>
            <a:off x="3776472" y="440740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lib/velocity.ts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76472" y="46085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time-in-stage, conversion, cycle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93592" y="4855464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48" name="Text 46"/>
          <p:cNvSpPr/>
          <p:nvPr/>
        </p:nvSpPr>
        <p:spPr>
          <a:xfrm>
            <a:off x="3776472" y="480974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lib/whatsapp.ts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776472" y="50109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normalise, wa.me link, roles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1828800"/>
            <a:ext cx="2651760" cy="35661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1828800"/>
            <a:ext cx="2651760" cy="109728"/>
          </a:xfrm>
          <a:prstGeom prst="rect">
            <a:avLst>
              <a:gd name="adj" fmla="val 66667"/>
            </a:avLst>
          </a:prstGeom>
          <a:solidFill>
            <a:srgbClr val="D98A0B"/>
          </a:solidFill>
          <a:ln/>
        </p:spPr>
      </p:sp>
      <p:sp>
        <p:nvSpPr>
          <p:cNvPr id="52" name="Text 50"/>
          <p:cNvSpPr/>
          <p:nvPr/>
        </p:nvSpPr>
        <p:spPr>
          <a:xfrm>
            <a:off x="6565392" y="1975104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POSTGRES (NEON sin1)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65392" y="24414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4" name="Text 52"/>
          <p:cNvSpPr/>
          <p:nvPr/>
        </p:nvSpPr>
        <p:spPr>
          <a:xfrm>
            <a:off x="6748272" y="23957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Lead · Activity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48272" y="26151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(Blueprint §6)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65392" y="28986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7" name="Text 55"/>
          <p:cNvSpPr/>
          <p:nvPr/>
        </p:nvSpPr>
        <p:spPr>
          <a:xfrm>
            <a:off x="6748272" y="28529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CustomSource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48272" y="30723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team-added sources (§14.7)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565392" y="33558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0" name="Text 58"/>
          <p:cNvSpPr/>
          <p:nvPr/>
        </p:nvSpPr>
        <p:spPr>
          <a:xfrm>
            <a:off x="6748272" y="33101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MessageTemplate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48272" y="35295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WA templates (§14.9)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565392" y="38130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3" name="Text 61"/>
          <p:cNvSpPr/>
          <p:nvPr/>
        </p:nvSpPr>
        <p:spPr>
          <a:xfrm>
            <a:off x="6748272" y="37673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Prisma schemas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748272" y="39867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dev · Postgres prod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565392" y="42702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6" name="Text 64"/>
          <p:cNvSpPr/>
          <p:nvPr/>
        </p:nvSpPr>
        <p:spPr>
          <a:xfrm>
            <a:off x="6748272" y="42245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vercel-build script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48272" y="44439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db push + next build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565392" y="4727448"/>
            <a:ext cx="100584" cy="10058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9" name="Text 67"/>
          <p:cNvSpPr/>
          <p:nvPr/>
        </p:nvSpPr>
        <p:spPr>
          <a:xfrm>
            <a:off x="6748272" y="46817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Singapore direct URL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748272" y="49011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as fns (latency fix)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372600" y="1828800"/>
            <a:ext cx="2361895" cy="3566160"/>
          </a:xfrm>
          <a:prstGeom prst="rect">
            <a:avLst>
              <a:gd name="adj" fmla="val 309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372600" y="1828800"/>
            <a:ext cx="2361895" cy="109728"/>
          </a:xfrm>
          <a:prstGeom prst="rect">
            <a:avLst>
              <a:gd name="adj" fmla="val 66667"/>
            </a:avLst>
          </a:prstGeom>
          <a:solidFill>
            <a:srgbClr val="17915B"/>
          </a:solidFill>
          <a:ln/>
        </p:spPr>
      </p:sp>
      <p:sp>
        <p:nvSpPr>
          <p:cNvPr id="73" name="Text 71"/>
          <p:cNvSpPr/>
          <p:nvPr/>
        </p:nvSpPr>
        <p:spPr>
          <a:xfrm>
            <a:off x="9537192" y="1975104"/>
            <a:ext cx="203271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537192" y="2423160"/>
            <a:ext cx="2087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 deep link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537192" y="2743200"/>
            <a:ext cx="20875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builds https://wa.me/&lt;phone&gt;?text=&lt;msg&gt;; the client opens it in a new tab. WhatsApp itself handles delivery — the app logs INTENT (a WHATSAPP_CONTACT activity), not proof of delivery. ADR-0002 documents the upgrade path to the WhatsApp Business Cloud API for delivery receipts.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108960" y="3611880"/>
            <a:ext cx="32004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6080760" y="3611880"/>
            <a:ext cx="32004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57200" y="5577840"/>
            <a:ext cx="11274552" cy="777240"/>
          </a:xfrm>
          <a:prstGeom prst="rect">
            <a:avLst>
              <a:gd name="adj" fmla="val 7059"/>
            </a:avLst>
          </a:prstGeom>
          <a:solidFill>
            <a:srgbClr val="ECEBFB"/>
          </a:solidFill>
          <a:ln/>
        </p:spPr>
      </p:sp>
      <p:sp>
        <p:nvSpPr>
          <p:cNvPr id="79" name="Text 77"/>
          <p:cNvSpPr/>
          <p:nvPr/>
        </p:nvSpPr>
        <p:spPr>
          <a:xfrm>
            <a:off x="640080" y="565099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lap  ·  every commit that touches app code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40080" y="5925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  →  64 unit tests, pure lib modules       npx tsc --noEmit   →  strict type-check clean       npm run build   →  Next.js production build clean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45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 ·  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18288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 ·  Lead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· route groups keep the auth shell separate from public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669280" cy="4846320"/>
          </a:xfrm>
          <a:prstGeom prst="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37944"/>
            <a:ext cx="5340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leadway/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2240280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414016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32304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2432304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pages (App Router)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606040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624328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(app)/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2624328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auth-required shell (layout guard)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2798064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2816352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94760" y="2816352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KPIs + attention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2990088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3008376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3008376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detail [id], actions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3182112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320040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94760" y="3200400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Manager/Admin analytics (§14.6)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0352" y="3374136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28" name="Text 26"/>
          <p:cNvSpPr/>
          <p:nvPr/>
        </p:nvSpPr>
        <p:spPr>
          <a:xfrm>
            <a:off x="1600200" y="3392424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94760" y="3392424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templates CRUD (§14.9)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66160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3584448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94760" y="3584448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management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80160" y="3776472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login/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74720" y="3776472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login page + action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60120" y="3968496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154680" y="3968496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(dialogs, panels)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4142232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416052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54680" y="4160520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business modules (tested)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280160" y="4352544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74720" y="4352544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requireUser guard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280160" y="4544568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permissions.ts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74720" y="4544568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can(user, action, lead?)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280160" y="4736592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transitions.ts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74720" y="4736592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rule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" y="4910328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47" name="Text 45"/>
          <p:cNvSpPr/>
          <p:nvPr/>
        </p:nvSpPr>
        <p:spPr>
          <a:xfrm>
            <a:off x="1280160" y="4928616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scoring.ts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474720" y="4928616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+ temperature (§14.2)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0352" y="5102352"/>
            <a:ext cx="5522976" cy="192024"/>
          </a:xfrm>
          <a:prstGeom prst="rect">
            <a:avLst>
              <a:gd name="adj" fmla="val 14286"/>
            </a:avLst>
          </a:prstGeom>
          <a:solidFill>
            <a:srgbClr val="ECEBFB"/>
          </a:solidFill>
          <a:ln/>
        </p:spPr>
      </p:sp>
      <p:sp>
        <p:nvSpPr>
          <p:cNvPr id="50" name="Text 48"/>
          <p:cNvSpPr/>
          <p:nvPr/>
        </p:nvSpPr>
        <p:spPr>
          <a:xfrm>
            <a:off x="1280160" y="512064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velocity.ts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474720" y="5120640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days + conversion (§14.5)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280160" y="5312664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whatsapp.ts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474720" y="5312664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wa.me, template roles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60120" y="5504688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154680" y="5504688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seed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280160" y="5696712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schema.prisma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474720" y="5696712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 / offline demo)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280160" y="5888736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schema.postgres.prisma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474720" y="5888736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(prod, Neon)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280160" y="608076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seed.ts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474720" y="6080760"/>
            <a:ext cx="2560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users · 16 leads · 14 templates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0120" y="6272784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154680" y="6272784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64 tests, five files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0120" y="6464808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154680" y="6464808"/>
            <a:ext cx="2880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· user manual · ai-log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55080" y="1691640"/>
            <a:ext cx="5376672" cy="1517904"/>
          </a:xfrm>
          <a:prstGeom prst="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5080" y="1691640"/>
            <a:ext cx="5376672" cy="109728"/>
          </a:xfrm>
          <a:prstGeom prst="rect">
            <a:avLst>
              <a:gd name="adj" fmla="val 66667"/>
            </a:avLst>
          </a:prstGeom>
          <a:solidFill>
            <a:srgbClr val="0E9AA7"/>
          </a:solidFill>
          <a:ln/>
        </p:spPr>
      </p:sp>
      <p:sp>
        <p:nvSpPr>
          <p:cNvPr id="68" name="Text 66"/>
          <p:cNvSpPr/>
          <p:nvPr/>
        </p:nvSpPr>
        <p:spPr>
          <a:xfrm>
            <a:off x="6519672" y="1837944"/>
            <a:ext cx="5047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Rules live in pure lib modules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556248" y="2194560"/>
            <a:ext cx="49743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transitions, whatsapp, scoring, velocity have zero framework imports — they take primitives and return primitives, so Vitest runs them in ~13 ms across 64 assertions. When a rule changes, the module and its test change together (project convention).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55080" y="3355848"/>
            <a:ext cx="5376672" cy="1517904"/>
          </a:xfrm>
          <a:prstGeom prst="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55080" y="3355848"/>
            <a:ext cx="5376672" cy="109728"/>
          </a:xfrm>
          <a:prstGeom prst="rect">
            <a:avLst>
              <a:gd name="adj" fmla="val 66667"/>
            </a:avLst>
          </a:prstGeom>
          <a:solidFill>
            <a:srgbClr val="D98A0B"/>
          </a:solidFill>
          <a:ln/>
        </p:spPr>
      </p:sp>
      <p:sp>
        <p:nvSpPr>
          <p:cNvPr id="72" name="Text 70"/>
          <p:cNvSpPr/>
          <p:nvPr/>
        </p:nvSpPr>
        <p:spPr>
          <a:xfrm>
            <a:off x="6519672" y="3502152"/>
            <a:ext cx="5047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Every mutation is a server action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556248" y="3858768"/>
            <a:ext cx="49743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createLead, changeLeadStatus, setFollowUp, addCustomSource, createTemplate all rerun session + can() + rule checks server-side, then write an Activity row before revalidatePath. The UI is never the security boundary.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355080" y="5020056"/>
            <a:ext cx="5376672" cy="1517904"/>
          </a:xfrm>
          <a:prstGeom prst="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55080" y="5020056"/>
            <a:ext cx="5376672" cy="109728"/>
          </a:xfrm>
          <a:prstGeom prst="rect">
            <a:avLst>
              <a:gd name="adj" fmla="val 66667"/>
            </a:avLst>
          </a:prstGeom>
          <a:solidFill>
            <a:srgbClr val="4A45E0"/>
          </a:solidFill>
          <a:ln/>
        </p:spPr>
      </p:sp>
      <p:sp>
        <p:nvSpPr>
          <p:cNvPr id="76" name="Text 74"/>
          <p:cNvSpPr/>
          <p:nvPr/>
        </p:nvSpPr>
        <p:spPr>
          <a:xfrm>
            <a:off x="6519672" y="5166360"/>
            <a:ext cx="5047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Audit trail is the analytics source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556248" y="5522976"/>
            <a:ext cx="497433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STATUS_CHANGE is a timestamped Activity row. lib/velocity.ts reconstructs each lead's stage history from those rows — no extra tracking. The Reports screen's velocity strip, sales cycle, and monthly outcomes are all derived from 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Leadway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Leadway — architecture supplement</dc:title>
  <dc:subject>PptxGenJS Presentation</dc:subject>
  <dc:creator>PptxGenJS</dc:creator>
  <cp:lastModifiedBy>PptxGenJS</cp:lastModifiedBy>
  <cp:revision>1</cp:revision>
  <dcterms:created xsi:type="dcterms:W3CDTF">2026-07-13T11:47:44Z</dcterms:created>
  <dcterms:modified xsi:type="dcterms:W3CDTF">2026-07-13T11:47:44Z</dcterms:modified>
</cp:coreProperties>
</file>